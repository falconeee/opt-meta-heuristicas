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0" r:id="rId3"/>
    <p:sldId id="262" r:id="rId4"/>
    <p:sldId id="263" r:id="rId5"/>
    <p:sldId id="264" r:id="rId6"/>
    <p:sldId id="266" r:id="rId7"/>
    <p:sldId id="267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04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224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001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(~15 s) Vou apresentar o T1: algoritmos construtivos e de busca local para o problema Splitwise. Roteiro: o problema e a modelagem que escolhi, os algoritmos (construtivos ACG e ACR, vizinhança e estratégias FI e BI), os resultados nas 32 instâncias da turma e as conclusões. Tempo total previsto: cerca de 11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(~1 min 20 s) Os dois construtivos montam a permutação posição a posição, acompanhando o resíduo r do grupo em construção. Quando r = 0, abro um grupo novo começando pelo maior saldo em módulo — a mesma lógica do LPT ou first-fit decreasing: tratar primeiro o que é mais difícil de encaixar. Quando r ≠ 0, os candidatos são as pessoas de sinal oposto, ordenadas pela função gulosa g(j) = |r + b(j)|, o resíduo que sobraria; se der zero, o grupo fecha e economizo uma transação. Por que não a regra clássica do aplicativo, "maior devedor paga ao maior credor"? Ela zera o resíduo com menos frequência. O ACG escolhe sempre o primeiro da lista. O ACR monta uma lista restrita com os 3 melhores e sorteia um deles, como na fase construtiva do GRASP, com semente fixa para reprodutibilidade; com LRC = 1 ele vira o ACG. A implementação usa listas ordenadas e busca binária: cerca de 1 ms para 1500 pessoas. No exemplo, o ACG chega às 3 transações.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(~40 s) As duas estratégias seguem os pseudocódigos dos slides, sobre a mesma vizinhança e na mesma ordem lexicográfica (i, j). A FI aplica o primeiro vizinho que melhora e recomeça a varredura; a BI avalia a vizinhança inteira e aplica o melhor vizinho, se ele melhorar. As duas param em um ótimo local. O NIt da tabela conta as execuções do laço externo, incluindo a última, que só confirma que não há vizinho melhor. A intuição usual é que a FI seja mais rápida — vamos ver que aqui não foi.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(~50 s) Usei as 32 instâncias da pasta da turma: 17 do tipo n e 15 do tipo n_k, em que o gerador plantou k grupos de soma zero — isso dá uma solução de referência com n' − k transações. Rodei os seis algoritmos em todas; cada solução final é decodificada em transações e conferida (todos quitados, número de transações igual a f). Os construtivos levam cerca de 1 ms e a busca local mais lenta, 5,2 s. Aqui está um recorte da tabela no formato pedido; a tabela completa, com NIt e tempos, está no notebook. Já dá para ver que nenhuma variante vence sempre: o melhor valor aparece em colunas diferentes conforme a instância.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(~1 min 10 s) Este é o gráfico pedido no item 5b: para cada instância, o valor do construtivo e da melhor busca local. Escolhi a variante com menor desvio médio em relação ao melhor da linha, que foi a BL_BI partindo do ACG. A redução média foi de 6,5%. Aparecem três regimes. Primeiro, instâncias com grupos grandes formados por valores pequenos — 500_188, 900_100, 800_80, 700_90 —, em que o construtivo deixa grupos enormes e a troca consegue separá-los: até 26,9% em 500_188 (de 457 para 334). Segundo, as instâncias do tipo n, em que o guloso já captura quase toda a estrutura: ganhos de 1% a 15%. Terceiro, saldos grandes e diversificados sem pares exatos, como 150_15 e 30_5: a troca praticamente não melhora nada. Em 600_40 também não há ganho, mas pelo motivo oposto: o ACG já está a 4,5% do limite inferior.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(~1 min) Agora o resultado inesperado: partindo do ACG, a BI foi mais rápida que a FI em 20 das 32 instâncias (18 de 32 partindo do ACR), com tempo total de 15,9 s contra 20,4 s. Há dois motivos. Primeiro, a BI faz menos iterações — 514 contra 749 — porque, ao olhar a vizinhança inteira, encontra trocas que dividem um grupo em três, com Δf = −2: elimina 1,59 transação por iteração, contra 1,05 da FI. Segundo, as melhorias são raras e ficam no fim da permutação, porque os grupos grandes são montados por último pelo construtivo. A FI recomeça a varredura do início a cada melhoria e acaba avaliando mais vizinhos no total — na instância 1500, 16,6 milhões contra 9,8 milhões. A lição é que a ordem de varredura pesa tanto quanto a estratégia; uma varredura circular ou aleatória seria a primeira melhoria a testar na FI.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(~50 s) Para fechar: a modelagem foi a decisão mais importante — ver o problema como maximizar grupos de soma zero e representar a solução como cadeia de repasses tornou todo o espaço viável e permitiu avaliar cada troca em O(log n'). Em qualidade, o guloso já é forte e a busca local reduz f em 6,5% em média, chegando a 26,9%, e supera a solução plantada em 9 das 15 instâncias com grupos plantados. Em desempenho, tudo roda em segundos; FI e BI empatam em qualidade, mas a BI foi mais rápida, o que mostra que a ordem de varredura importa. A limitação é que a troca não consegue montar grupos grandes com valores diversos. Os próximos passos naturais são usar o ACR em multi-partida, como no GRASP, meta-heurísticas como ILS e VNS, e vizinhanças que dividam grupos via subset-sum. Obrigado.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7"/>
            <a:ext cx="1088346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8FB8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META-HEURÍSTICAS E OTIMIZAÇÃO · PPGI/CT/UFES · 2026/2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2767" y="2147094"/>
            <a:ext cx="762000" cy="50767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12767" y="2426450"/>
            <a:ext cx="10883461" cy="1366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F3F1E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Splitwise: algoritmos construtivos e busca local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12767" y="5425557"/>
            <a:ext cx="10883461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3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Gabriel Falcone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12767" y="5796304"/>
            <a:ext cx="10883461" cy="274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B9C2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Atividade T1 · construtivos ACG e ACR · buscas locais FI e BI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9"/>
            <a:ext cx="1088346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F5F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· ALGORITMOS CONSTRUTIVOS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67" y="1127733"/>
            <a:ext cx="10883461" cy="444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621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ACG e ACR: fechar cada grupo o quanto antes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42" y="1803995"/>
            <a:ext cx="5482487" cy="1062346"/>
          </a:xfrm>
          <a:prstGeom prst="roundRect">
            <a:avLst>
              <a:gd name="adj" fmla="val 9265"/>
            </a:avLst>
          </a:prstGeom>
          <a:solidFill>
            <a:srgbClr val="FCFCFB"/>
          </a:solidFill>
          <a:ln w="6350">
            <a:solidFill>
              <a:srgbClr val="E2E0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019473" y="1982118"/>
            <a:ext cx="5227688" cy="253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Abrir grupo (resíduo r = 0)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19473" y="2261471"/>
            <a:ext cx="5227688" cy="45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maior |b| primeiro: os saldos grandes são os mais difíceis de </a:t>
            </a:r>
            <a:r>
              <a:rPr lang="en-US" sz="1200" dirty="0" err="1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compensar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5942" y="2999693"/>
            <a:ext cx="5482487" cy="1514343"/>
          </a:xfrm>
          <a:prstGeom prst="roundRect">
            <a:avLst>
              <a:gd name="adj" fmla="val 6500"/>
            </a:avLst>
          </a:prstGeom>
          <a:solidFill>
            <a:srgbClr val="FCFCFB"/>
          </a:solidFill>
          <a:ln w="6350">
            <a:solidFill>
              <a:srgbClr val="E2E0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019473" y="3177812"/>
            <a:ext cx="5227688" cy="253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Estender grupo (r ≠ 0)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19473" y="3457169"/>
            <a:ext cx="5227688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candidatos de sinal oposto a r, ordenados pela função gulosa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19473" y="3721311"/>
            <a:ext cx="5075425" cy="350463"/>
          </a:xfrm>
          <a:prstGeom prst="roundRect">
            <a:avLst>
              <a:gd name="adj" fmla="val 18119"/>
            </a:avLst>
          </a:prstGeom>
          <a:solidFill>
            <a:srgbClr val="EFED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146473" y="3772111"/>
            <a:ext cx="4966068" cy="274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1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g(j) = |r + b(j)|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19473" y="4122539"/>
            <a:ext cx="5227688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resíduo que sobraria; g = 0 fecha o grupo e economiza uma transação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09545" y="1803995"/>
            <a:ext cx="4766513" cy="848971"/>
          </a:xfrm>
          <a:prstGeom prst="roundRect">
            <a:avLst>
              <a:gd name="adj" fmla="val 11593"/>
            </a:avLst>
          </a:prstGeom>
          <a:solidFill>
            <a:srgbClr val="FCFCFB"/>
          </a:solidFill>
          <a:ln w="6350">
            <a:solidFill>
              <a:srgbClr val="E2E0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813076" y="1982118"/>
            <a:ext cx="4490235" cy="253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ACG — guloso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13076" y="2261471"/>
            <a:ext cx="4490235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sempre o primeiro candidato da lista: escolha local ótima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09545" y="2786317"/>
            <a:ext cx="4766513" cy="1275722"/>
          </a:xfrm>
          <a:prstGeom prst="roundRect">
            <a:avLst>
              <a:gd name="adj" fmla="val 7715"/>
            </a:avLst>
          </a:prstGeom>
          <a:solidFill>
            <a:srgbClr val="FCFCFB"/>
          </a:solidFill>
          <a:ln w="6350">
            <a:solidFill>
              <a:srgbClr val="E2E0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813076" y="2964436"/>
            <a:ext cx="4490235" cy="253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ACR — randomizado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13076" y="3243793"/>
            <a:ext cx="4490235" cy="665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lista restrita (LRC) com os 3 melhores candidatos e </a:t>
            </a:r>
            <a:r>
              <a:rPr lang="en-US" sz="1200" dirty="0" err="1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escolha</a:t>
            </a:r>
            <a:r>
              <a:rPr lang="en-US" sz="12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200" dirty="0" err="1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uniforme</a:t>
            </a:r>
            <a:r>
              <a:rPr lang="en-US" sz="12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; semente 42.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2767" y="4771210"/>
            <a:ext cx="10566467" cy="761890"/>
          </a:xfrm>
          <a:prstGeom prst="roundRect">
            <a:avLst>
              <a:gd name="adj" fmla="val 11668"/>
            </a:avLst>
          </a:prstGeom>
          <a:solidFill>
            <a:srgbClr val="EFED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015945" y="4923566"/>
            <a:ext cx="10464914" cy="482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ACG no exemplo: abre com 4 (−80) → r = −80 · pessoa 1 (+70) deixa |−10|, melhor que |−30| → r = −10 · pessoa 2 (+50) → r = 40 · pessoa 3 (−40) → r = 0 · f = 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2767" y="6238270"/>
            <a:ext cx="850265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5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Gabriel Falcone · T1 Splitwise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33" y="6238270"/>
            <a:ext cx="132080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C65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/ 12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6"/>
            <a:ext cx="1088346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F5F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· BUSCA LOCAL — ESTRATÉGIAS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67" y="1127730"/>
            <a:ext cx="10883461" cy="444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621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 e BI: mesma vizinhança, outra regra de aceitação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42" y="1803995"/>
            <a:ext cx="5175294" cy="2596434"/>
          </a:xfrm>
          <a:prstGeom prst="roundRect">
            <a:avLst>
              <a:gd name="adj" fmla="val 3791"/>
            </a:avLst>
          </a:prstGeom>
          <a:solidFill>
            <a:srgbClr val="FCFCFB"/>
          </a:solidFill>
          <a:ln w="6350">
            <a:solidFill>
              <a:srgbClr val="E2E0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019473" y="2007524"/>
            <a:ext cx="4911280" cy="269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BL_FI — first-improvement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9473" y="2352917"/>
            <a:ext cx="4911280" cy="487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aplica o primeiro vizinho que melhora e recomeça a varredura do início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19473" y="2916755"/>
            <a:ext cx="4768233" cy="1280142"/>
          </a:xfrm>
          <a:prstGeom prst="roundRect">
            <a:avLst>
              <a:gd name="adj" fmla="val 5952"/>
            </a:avLst>
          </a:prstGeom>
          <a:solidFill>
            <a:srgbClr val="EFED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171829" y="3069112"/>
            <a:ext cx="4597427" cy="10008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enquanto houver melhora:</a:t>
            </a:r>
            <a:endParaRPr lang="en-US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para (i, j) = (1,2), (1,3), …, (n'−1,n'):</a:t>
            </a:r>
            <a:endParaRPr lang="en-US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se Δf(i, j) &lt; 0:</a:t>
            </a:r>
            <a:endParaRPr lang="en-US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aplica a troca e interrompe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00764" y="1803995"/>
            <a:ext cx="5175294" cy="2596434"/>
          </a:xfrm>
          <a:prstGeom prst="roundRect">
            <a:avLst>
              <a:gd name="adj" fmla="val 3791"/>
            </a:avLst>
          </a:prstGeom>
          <a:solidFill>
            <a:srgbClr val="FCFCFB"/>
          </a:solidFill>
          <a:ln w="6350">
            <a:solidFill>
              <a:srgbClr val="E2E0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04295" y="2007524"/>
            <a:ext cx="4911280" cy="269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BL_BI — best-improvement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4295" y="2352917"/>
            <a:ext cx="4911280" cy="487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avalia toda a vizinhança e aplica o melhor vizinho, se ele melhora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4295" y="2916755"/>
            <a:ext cx="4768233" cy="1280142"/>
          </a:xfrm>
          <a:prstGeom prst="roundRect">
            <a:avLst>
              <a:gd name="adj" fmla="val 5952"/>
            </a:avLst>
          </a:prstGeom>
          <a:solidFill>
            <a:srgbClr val="EFED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556651" y="3069112"/>
            <a:ext cx="4597427" cy="10008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enquanto houver melhora:</a:t>
            </a:r>
            <a:endParaRPr lang="en-US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avalia todos os (i, j)</a:t>
            </a:r>
            <a:endParaRPr lang="en-US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(i*, j*) ← vizinho de menor Δf</a:t>
            </a:r>
            <a:endParaRPr lang="en-US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se Δf(i*, j*) &lt; 0: aplica a troca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2767" y="4657604"/>
            <a:ext cx="5337094" cy="487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NIt</a:t>
            </a:r>
            <a:r>
              <a:rPr lang="en-US" sz="1300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= execuções do laço externo, incluindo a última, que só certifica o ótimo local (NIt ≤ f inicial + 1)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97589" y="4657604"/>
            <a:ext cx="5337094" cy="487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Intuição usual:</a:t>
            </a:r>
            <a:r>
              <a:rPr lang="en-US" sz="1300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iterações da FI são baratas e as da BI, caras. Nos resultados, a BI foi mais rápida.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767" y="6238267"/>
            <a:ext cx="850265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5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Gabriel Falcone · T1 Splitwise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33" y="6238267"/>
            <a:ext cx="132080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C65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 / 12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6"/>
            <a:ext cx="1088346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F5F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· RESULTADOS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67" y="1127730"/>
            <a:ext cx="10883461" cy="444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621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32 instâncias, 6 algoritmos, soluções verificadas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767" y="1800820"/>
            <a:ext cx="287782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32 instâncias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767" y="2146157"/>
            <a:ext cx="2877820" cy="45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 pasta; n' de 20 a 1500 pessoas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767" y="2725263"/>
            <a:ext cx="287782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 + 15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12767" y="3070600"/>
            <a:ext cx="2877820" cy="45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 do tipo n e 15 do tipo n_k, com k grupos plantados (referência: n' − k)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767" y="3649706"/>
            <a:ext cx="287782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LRC = 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12767" y="3995043"/>
            <a:ext cx="2877820" cy="45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ACR, com semente 42: execução reprodutível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767" y="4574149"/>
            <a:ext cx="287782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≤ 5,2 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12767" y="4919486"/>
            <a:ext cx="2877820" cy="45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maior tempo de uma busca local; construtivos ≈ 1 ms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62356" y="2069196"/>
            <a:ext cx="7416878" cy="0"/>
          </a:xfrm>
          <a:prstGeom prst="line">
            <a:avLst/>
          </a:prstGeom>
          <a:noFill/>
          <a:ln w="12700">
            <a:solidFill>
              <a:srgbClr val="1621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962356" y="1800820"/>
            <a:ext cx="113030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16456" y="1800820"/>
            <a:ext cx="81280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78456" y="1800820"/>
            <a:ext cx="81280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40457" y="1800820"/>
            <a:ext cx="11620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BL_FI (ACG)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51707" y="1800820"/>
            <a:ext cx="11620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BL_FI (ACR)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762957" y="1800820"/>
            <a:ext cx="11620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BL_BI (ACG)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874207" y="1800820"/>
            <a:ext cx="11620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BL_BI (ACR)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962356" y="2510036"/>
            <a:ext cx="7416878" cy="0"/>
          </a:xfrm>
          <a:prstGeom prst="line">
            <a:avLst/>
          </a:prstGeom>
          <a:noFill/>
          <a:ln w="6350">
            <a:solidFill>
              <a:srgbClr val="E2E0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3962356" y="2227845"/>
            <a:ext cx="1130300" cy="25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16456" y="2227845"/>
            <a:ext cx="812800" cy="25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78456" y="2227845"/>
            <a:ext cx="812800" cy="25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65857" y="2202489"/>
            <a:ext cx="1111250" cy="281836"/>
          </a:xfrm>
          <a:prstGeom prst="roundRect">
            <a:avLst>
              <a:gd name="adj" fmla="val 18025"/>
            </a:avLst>
          </a:prstGeom>
          <a:solidFill>
            <a:srgbClr val="FBE6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540457" y="2227889"/>
            <a:ext cx="1162050" cy="256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651707" y="2227889"/>
            <a:ext cx="1162050" cy="256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18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788357" y="2202489"/>
            <a:ext cx="1111250" cy="281836"/>
          </a:xfrm>
          <a:prstGeom prst="roundRect">
            <a:avLst>
              <a:gd name="adj" fmla="val 18025"/>
            </a:avLst>
          </a:prstGeom>
          <a:solidFill>
            <a:srgbClr val="FBE6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8762957" y="2227889"/>
            <a:ext cx="1162050" cy="256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874207" y="2227889"/>
            <a:ext cx="1162050" cy="256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962356" y="2846112"/>
            <a:ext cx="7416878" cy="0"/>
          </a:xfrm>
          <a:prstGeom prst="line">
            <a:avLst/>
          </a:prstGeom>
          <a:noFill/>
          <a:ln w="6350">
            <a:solidFill>
              <a:srgbClr val="E2E0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3962356" y="2563921"/>
            <a:ext cx="1130300" cy="25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100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16456" y="2563921"/>
            <a:ext cx="812800" cy="25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778456" y="2563921"/>
            <a:ext cx="812800" cy="25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40457" y="2563968"/>
            <a:ext cx="1162050" cy="256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81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651707" y="2563968"/>
            <a:ext cx="1162050" cy="256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82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788357" y="2538568"/>
            <a:ext cx="1111250" cy="281836"/>
          </a:xfrm>
          <a:prstGeom prst="roundRect">
            <a:avLst>
              <a:gd name="adj" fmla="val 18025"/>
            </a:avLst>
          </a:prstGeom>
          <a:solidFill>
            <a:srgbClr val="FBE6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8762957" y="2563968"/>
            <a:ext cx="1162050" cy="256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80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874207" y="2563968"/>
            <a:ext cx="1162050" cy="256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81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962356" y="3182188"/>
            <a:ext cx="7416878" cy="0"/>
          </a:xfrm>
          <a:prstGeom prst="line">
            <a:avLst/>
          </a:prstGeom>
          <a:noFill/>
          <a:ln w="6350">
            <a:solidFill>
              <a:srgbClr val="E2E0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3962356" y="2899997"/>
            <a:ext cx="1130300" cy="25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150_15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016456" y="2899997"/>
            <a:ext cx="812800" cy="25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149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778456" y="2899997"/>
            <a:ext cx="812800" cy="25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149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540457" y="2900043"/>
            <a:ext cx="1162050" cy="256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148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677107" y="2874643"/>
            <a:ext cx="1111250" cy="281836"/>
          </a:xfrm>
          <a:prstGeom prst="roundRect">
            <a:avLst>
              <a:gd name="adj" fmla="val 18025"/>
            </a:avLst>
          </a:prstGeom>
          <a:solidFill>
            <a:srgbClr val="FBE6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7651707" y="2900043"/>
            <a:ext cx="1162050" cy="256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147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762957" y="2900043"/>
            <a:ext cx="1162050" cy="256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148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9899607" y="2874643"/>
            <a:ext cx="1111250" cy="281836"/>
          </a:xfrm>
          <a:prstGeom prst="roundRect">
            <a:avLst>
              <a:gd name="adj" fmla="val 18025"/>
            </a:avLst>
          </a:prstGeom>
          <a:solidFill>
            <a:srgbClr val="FBE6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9874207" y="2900043"/>
            <a:ext cx="1162050" cy="256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147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3962356" y="3518263"/>
            <a:ext cx="7416878" cy="0"/>
          </a:xfrm>
          <a:prstGeom prst="line">
            <a:avLst/>
          </a:prstGeom>
          <a:noFill/>
          <a:ln w="6350">
            <a:solidFill>
              <a:srgbClr val="E2E0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3962356" y="3236075"/>
            <a:ext cx="1130300" cy="25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200_80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016456" y="3236075"/>
            <a:ext cx="812800" cy="25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196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778456" y="3236075"/>
            <a:ext cx="812800" cy="25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199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565857" y="3210719"/>
            <a:ext cx="1111250" cy="281836"/>
          </a:xfrm>
          <a:prstGeom prst="roundRect">
            <a:avLst>
              <a:gd name="adj" fmla="val 18025"/>
            </a:avLst>
          </a:prstGeom>
          <a:solidFill>
            <a:srgbClr val="FBE6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6540457" y="3236119"/>
            <a:ext cx="1162050" cy="256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168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7651707" y="3236119"/>
            <a:ext cx="1162050" cy="256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179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8762957" y="3236119"/>
            <a:ext cx="1162050" cy="256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175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9874207" y="3236119"/>
            <a:ext cx="1162050" cy="256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175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3962356" y="3854339"/>
            <a:ext cx="7416878" cy="0"/>
          </a:xfrm>
          <a:prstGeom prst="line">
            <a:avLst/>
          </a:prstGeom>
          <a:noFill/>
          <a:ln w="6350">
            <a:solidFill>
              <a:srgbClr val="E2E0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9" name="Text 57"/>
          <p:cNvSpPr/>
          <p:nvPr/>
        </p:nvSpPr>
        <p:spPr>
          <a:xfrm>
            <a:off x="3962356" y="3572151"/>
            <a:ext cx="1130300" cy="25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500_188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5016456" y="3572151"/>
            <a:ext cx="812800" cy="25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457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5778456" y="3572151"/>
            <a:ext cx="812800" cy="25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458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6540457" y="3572194"/>
            <a:ext cx="1162050" cy="256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336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7677107" y="3546794"/>
            <a:ext cx="1111250" cy="281836"/>
          </a:xfrm>
          <a:prstGeom prst="roundRect">
            <a:avLst>
              <a:gd name="adj" fmla="val 18025"/>
            </a:avLst>
          </a:prstGeom>
          <a:solidFill>
            <a:srgbClr val="FBE6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4" name="Text 62"/>
          <p:cNvSpPr/>
          <p:nvPr/>
        </p:nvSpPr>
        <p:spPr>
          <a:xfrm>
            <a:off x="7651707" y="3572194"/>
            <a:ext cx="1162050" cy="256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332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8762957" y="3572194"/>
            <a:ext cx="1162050" cy="256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334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9874207" y="3572194"/>
            <a:ext cx="1162050" cy="256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333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3962356" y="4190414"/>
            <a:ext cx="7416878" cy="0"/>
          </a:xfrm>
          <a:prstGeom prst="line">
            <a:avLst/>
          </a:prstGeom>
          <a:noFill/>
          <a:ln w="6350">
            <a:solidFill>
              <a:srgbClr val="E2E0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Text 66"/>
          <p:cNvSpPr/>
          <p:nvPr/>
        </p:nvSpPr>
        <p:spPr>
          <a:xfrm>
            <a:off x="3962356" y="3908227"/>
            <a:ext cx="1130300" cy="25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600_40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5016456" y="3908227"/>
            <a:ext cx="812800" cy="25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322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5778456" y="3908227"/>
            <a:ext cx="812800" cy="25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324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6565857" y="3882870"/>
            <a:ext cx="1111250" cy="281836"/>
          </a:xfrm>
          <a:prstGeom prst="roundRect">
            <a:avLst>
              <a:gd name="adj" fmla="val 18025"/>
            </a:avLst>
          </a:prstGeom>
          <a:solidFill>
            <a:srgbClr val="FBE6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2" name="Text 70"/>
          <p:cNvSpPr/>
          <p:nvPr/>
        </p:nvSpPr>
        <p:spPr>
          <a:xfrm>
            <a:off x="6540457" y="3908270"/>
            <a:ext cx="1162050" cy="256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322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7651707" y="3908270"/>
            <a:ext cx="1162050" cy="256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323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8788357" y="3882870"/>
            <a:ext cx="1111250" cy="281836"/>
          </a:xfrm>
          <a:prstGeom prst="roundRect">
            <a:avLst>
              <a:gd name="adj" fmla="val 18025"/>
            </a:avLst>
          </a:prstGeom>
          <a:solidFill>
            <a:srgbClr val="FBE6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5" name="Text 73"/>
          <p:cNvSpPr/>
          <p:nvPr/>
        </p:nvSpPr>
        <p:spPr>
          <a:xfrm>
            <a:off x="8762957" y="3908270"/>
            <a:ext cx="1162050" cy="256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322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9874207" y="3908270"/>
            <a:ext cx="1162050" cy="256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323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3962356" y="4526490"/>
            <a:ext cx="7416878" cy="0"/>
          </a:xfrm>
          <a:prstGeom prst="line">
            <a:avLst/>
          </a:prstGeom>
          <a:noFill/>
          <a:ln w="6350">
            <a:solidFill>
              <a:srgbClr val="E2E0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8" name="Text 76"/>
          <p:cNvSpPr/>
          <p:nvPr/>
        </p:nvSpPr>
        <p:spPr>
          <a:xfrm>
            <a:off x="3962356" y="4244302"/>
            <a:ext cx="1130300" cy="25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900_100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5016456" y="4244302"/>
            <a:ext cx="812800" cy="25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818</a:t>
            </a:r>
            <a:endParaRPr lang="en-US" sz="1300" dirty="0"/>
          </a:p>
        </p:txBody>
      </p:sp>
      <p:sp>
        <p:nvSpPr>
          <p:cNvPr id="80" name="Text 78"/>
          <p:cNvSpPr/>
          <p:nvPr/>
        </p:nvSpPr>
        <p:spPr>
          <a:xfrm>
            <a:off x="5778456" y="4244302"/>
            <a:ext cx="812800" cy="25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813</a:t>
            </a:r>
            <a:endParaRPr lang="en-US" sz="1300" dirty="0"/>
          </a:p>
        </p:txBody>
      </p:sp>
      <p:sp>
        <p:nvSpPr>
          <p:cNvPr id="81" name="Text 79"/>
          <p:cNvSpPr/>
          <p:nvPr/>
        </p:nvSpPr>
        <p:spPr>
          <a:xfrm>
            <a:off x="6540457" y="4244346"/>
            <a:ext cx="1162050" cy="256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712</a:t>
            </a:r>
            <a:endParaRPr lang="en-US" sz="1300" dirty="0"/>
          </a:p>
        </p:txBody>
      </p:sp>
      <p:sp>
        <p:nvSpPr>
          <p:cNvPr id="82" name="Text 80"/>
          <p:cNvSpPr/>
          <p:nvPr/>
        </p:nvSpPr>
        <p:spPr>
          <a:xfrm>
            <a:off x="7651707" y="4244346"/>
            <a:ext cx="1162050" cy="256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710</a:t>
            </a:r>
            <a:endParaRPr lang="en-US" sz="1300" dirty="0"/>
          </a:p>
        </p:txBody>
      </p:sp>
      <p:sp>
        <p:nvSpPr>
          <p:cNvPr id="83" name="Text 81"/>
          <p:cNvSpPr/>
          <p:nvPr/>
        </p:nvSpPr>
        <p:spPr>
          <a:xfrm>
            <a:off x="8762957" y="4244346"/>
            <a:ext cx="1162050" cy="256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702</a:t>
            </a: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9899607" y="4218946"/>
            <a:ext cx="1111250" cy="281836"/>
          </a:xfrm>
          <a:prstGeom prst="roundRect">
            <a:avLst>
              <a:gd name="adj" fmla="val 18025"/>
            </a:avLst>
          </a:prstGeom>
          <a:solidFill>
            <a:srgbClr val="FBE6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5" name="Text 83"/>
          <p:cNvSpPr/>
          <p:nvPr/>
        </p:nvSpPr>
        <p:spPr>
          <a:xfrm>
            <a:off x="9874207" y="4244346"/>
            <a:ext cx="1162050" cy="256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701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3962356" y="4862569"/>
            <a:ext cx="7416878" cy="0"/>
          </a:xfrm>
          <a:prstGeom prst="line">
            <a:avLst/>
          </a:prstGeom>
          <a:noFill/>
          <a:ln w="6350">
            <a:solidFill>
              <a:srgbClr val="E2E0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7" name="Text 85"/>
          <p:cNvSpPr/>
          <p:nvPr/>
        </p:nvSpPr>
        <p:spPr>
          <a:xfrm>
            <a:off x="3962356" y="4580381"/>
            <a:ext cx="1130300" cy="25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1000_120</a:t>
            </a:r>
            <a:endParaRPr lang="en-US" sz="1300" dirty="0"/>
          </a:p>
        </p:txBody>
      </p:sp>
      <p:sp>
        <p:nvSpPr>
          <p:cNvPr id="88" name="Text 86"/>
          <p:cNvSpPr/>
          <p:nvPr/>
        </p:nvSpPr>
        <p:spPr>
          <a:xfrm>
            <a:off x="5016456" y="4580381"/>
            <a:ext cx="812800" cy="25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719</a:t>
            </a:r>
            <a:endParaRPr lang="en-US" sz="1300" dirty="0"/>
          </a:p>
        </p:txBody>
      </p:sp>
      <p:sp>
        <p:nvSpPr>
          <p:cNvPr id="89" name="Text 87"/>
          <p:cNvSpPr/>
          <p:nvPr/>
        </p:nvSpPr>
        <p:spPr>
          <a:xfrm>
            <a:off x="5778456" y="4580381"/>
            <a:ext cx="812800" cy="25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889</a:t>
            </a:r>
            <a:endParaRPr lang="en-US" sz="1300" dirty="0"/>
          </a:p>
        </p:txBody>
      </p:sp>
      <p:sp>
        <p:nvSpPr>
          <p:cNvPr id="90" name="Text 88"/>
          <p:cNvSpPr/>
          <p:nvPr/>
        </p:nvSpPr>
        <p:spPr>
          <a:xfrm>
            <a:off x="6540457" y="4580424"/>
            <a:ext cx="1162050" cy="256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673</a:t>
            </a:r>
            <a:endParaRPr lang="en-US" sz="1300" dirty="0"/>
          </a:p>
        </p:txBody>
      </p:sp>
      <p:sp>
        <p:nvSpPr>
          <p:cNvPr id="91" name="Text 89"/>
          <p:cNvSpPr/>
          <p:nvPr/>
        </p:nvSpPr>
        <p:spPr>
          <a:xfrm>
            <a:off x="7651707" y="4580424"/>
            <a:ext cx="1162050" cy="256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757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8788357" y="4555024"/>
            <a:ext cx="1111250" cy="281836"/>
          </a:xfrm>
          <a:prstGeom prst="roundRect">
            <a:avLst>
              <a:gd name="adj" fmla="val 18025"/>
            </a:avLst>
          </a:prstGeom>
          <a:solidFill>
            <a:srgbClr val="FBE6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3" name="Text 91"/>
          <p:cNvSpPr/>
          <p:nvPr/>
        </p:nvSpPr>
        <p:spPr>
          <a:xfrm>
            <a:off x="8762957" y="4580424"/>
            <a:ext cx="1162050" cy="256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671</a:t>
            </a:r>
            <a:endParaRPr lang="en-US" sz="1300" dirty="0"/>
          </a:p>
        </p:txBody>
      </p:sp>
      <p:sp>
        <p:nvSpPr>
          <p:cNvPr id="94" name="Text 92"/>
          <p:cNvSpPr/>
          <p:nvPr/>
        </p:nvSpPr>
        <p:spPr>
          <a:xfrm>
            <a:off x="9874207" y="4580424"/>
            <a:ext cx="1162050" cy="256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752</a:t>
            </a:r>
            <a:endParaRPr lang="en-US" sz="1300" dirty="0"/>
          </a:p>
        </p:txBody>
      </p:sp>
      <p:sp>
        <p:nvSpPr>
          <p:cNvPr id="95" name="Shape 93"/>
          <p:cNvSpPr/>
          <p:nvPr/>
        </p:nvSpPr>
        <p:spPr>
          <a:xfrm>
            <a:off x="3962356" y="5198641"/>
            <a:ext cx="7416878" cy="0"/>
          </a:xfrm>
          <a:prstGeom prst="line">
            <a:avLst/>
          </a:prstGeom>
          <a:noFill/>
          <a:ln w="6350">
            <a:solidFill>
              <a:srgbClr val="E2E0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6" name="Text 94"/>
          <p:cNvSpPr/>
          <p:nvPr/>
        </p:nvSpPr>
        <p:spPr>
          <a:xfrm>
            <a:off x="3962356" y="4916453"/>
            <a:ext cx="1130300" cy="25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1500</a:t>
            </a:r>
            <a:endParaRPr lang="en-US" sz="1300" dirty="0"/>
          </a:p>
        </p:txBody>
      </p:sp>
      <p:sp>
        <p:nvSpPr>
          <p:cNvPr id="97" name="Text 95"/>
          <p:cNvSpPr/>
          <p:nvPr/>
        </p:nvSpPr>
        <p:spPr>
          <a:xfrm>
            <a:off x="5016456" y="4916453"/>
            <a:ext cx="812800" cy="25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1221</a:t>
            </a:r>
            <a:endParaRPr lang="en-US" sz="1300" dirty="0"/>
          </a:p>
        </p:txBody>
      </p:sp>
      <p:sp>
        <p:nvSpPr>
          <p:cNvPr id="98" name="Text 96"/>
          <p:cNvSpPr/>
          <p:nvPr/>
        </p:nvSpPr>
        <p:spPr>
          <a:xfrm>
            <a:off x="5778456" y="4916453"/>
            <a:ext cx="812800" cy="25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1275</a:t>
            </a:r>
            <a:endParaRPr lang="en-US" sz="1300" dirty="0"/>
          </a:p>
        </p:txBody>
      </p:sp>
      <p:sp>
        <p:nvSpPr>
          <p:cNvPr id="99" name="Shape 97"/>
          <p:cNvSpPr/>
          <p:nvPr/>
        </p:nvSpPr>
        <p:spPr>
          <a:xfrm>
            <a:off x="6565857" y="4891097"/>
            <a:ext cx="1111250" cy="281836"/>
          </a:xfrm>
          <a:prstGeom prst="roundRect">
            <a:avLst>
              <a:gd name="adj" fmla="val 18025"/>
            </a:avLst>
          </a:prstGeom>
          <a:solidFill>
            <a:srgbClr val="FBE6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0" name="Text 98"/>
          <p:cNvSpPr/>
          <p:nvPr/>
        </p:nvSpPr>
        <p:spPr>
          <a:xfrm>
            <a:off x="6540457" y="4916497"/>
            <a:ext cx="1162050" cy="256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1206</a:t>
            </a:r>
            <a:endParaRPr lang="en-US" sz="1300" dirty="0"/>
          </a:p>
        </p:txBody>
      </p:sp>
      <p:sp>
        <p:nvSpPr>
          <p:cNvPr id="101" name="Text 99"/>
          <p:cNvSpPr/>
          <p:nvPr/>
        </p:nvSpPr>
        <p:spPr>
          <a:xfrm>
            <a:off x="7651707" y="4916497"/>
            <a:ext cx="1162050" cy="256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1247</a:t>
            </a:r>
            <a:endParaRPr lang="en-US" sz="1300" dirty="0"/>
          </a:p>
        </p:txBody>
      </p:sp>
      <p:sp>
        <p:nvSpPr>
          <p:cNvPr id="102" name="Text 100"/>
          <p:cNvSpPr/>
          <p:nvPr/>
        </p:nvSpPr>
        <p:spPr>
          <a:xfrm>
            <a:off x="8762957" y="4916497"/>
            <a:ext cx="1162050" cy="256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1207</a:t>
            </a:r>
            <a:endParaRPr lang="en-US" sz="1300" dirty="0"/>
          </a:p>
        </p:txBody>
      </p:sp>
      <p:sp>
        <p:nvSpPr>
          <p:cNvPr id="103" name="Text 101"/>
          <p:cNvSpPr/>
          <p:nvPr/>
        </p:nvSpPr>
        <p:spPr>
          <a:xfrm>
            <a:off x="9874207" y="4916497"/>
            <a:ext cx="1162050" cy="256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1249</a:t>
            </a:r>
            <a:endParaRPr lang="en-US" sz="1300" dirty="0"/>
          </a:p>
        </p:txBody>
      </p:sp>
      <p:sp>
        <p:nvSpPr>
          <p:cNvPr id="104" name="Text 102"/>
          <p:cNvSpPr/>
          <p:nvPr/>
        </p:nvSpPr>
        <p:spPr>
          <a:xfrm>
            <a:off x="3962356" y="5303407"/>
            <a:ext cx="7639384" cy="45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5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Recorte com 9 das 32 instâncias (sol = nº de transações); negrito com fundo = melhor busca local da linha. Tabela completa, com NIt e t(s), na Seção 6.1 do notebook.</a:t>
            </a:r>
            <a:endParaRPr lang="en-US" sz="1200" dirty="0"/>
          </a:p>
        </p:txBody>
      </p:sp>
      <p:sp>
        <p:nvSpPr>
          <p:cNvPr id="105" name="Text 103"/>
          <p:cNvSpPr/>
          <p:nvPr/>
        </p:nvSpPr>
        <p:spPr>
          <a:xfrm>
            <a:off x="812767" y="6238270"/>
            <a:ext cx="850265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5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Gabriel Falcone · T1 Splitwise</a:t>
            </a:r>
            <a:endParaRPr lang="en-US" sz="1200" dirty="0"/>
          </a:p>
        </p:txBody>
      </p:sp>
      <p:sp>
        <p:nvSpPr>
          <p:cNvPr id="106" name="Text 104"/>
          <p:cNvSpPr/>
          <p:nvPr/>
        </p:nvSpPr>
        <p:spPr>
          <a:xfrm>
            <a:off x="10058433" y="6238270"/>
            <a:ext cx="132080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C65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 / 12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9"/>
            <a:ext cx="1088346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F5F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· RESULTADOS — GRÁFICO PEDIDO (ITEM 5B)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67" y="1127733"/>
            <a:ext cx="10883461" cy="444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621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busca local reduz f em 6,5% em média, até 26,9%</a:t>
            </a:r>
            <a:endParaRPr lang="en-US" sz="3000" dirty="0"/>
          </a:p>
        </p:txBody>
      </p:sp>
      <p:pic>
        <p:nvPicPr>
          <p:cNvPr id="4" name="Image 0" descr="Gráfico com as 32 instâncias no eixo x. Painel superior: número de transações do construtivo ACG e da busca local BL_BI(ACG), com o limite inferior LB. Painel inferior: melhoria percentual da busca local, máxima de 26,9% na instância 500_188 e nula em 30_5 e 600_40.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767" y="1673820"/>
            <a:ext cx="10566357" cy="3810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767" y="5610820"/>
            <a:ext cx="1088346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5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Variante com menor desvio médio: BL_BI(ACG) · traço cinza = limite inferior LB · barras = redução relativa de f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767" y="6238273"/>
            <a:ext cx="850265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5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Gabriel Falcone · T1 Splitwise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33" y="6238273"/>
            <a:ext cx="132080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C65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 / 12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3"/>
            <a:ext cx="1088346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F5F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· RESULTADOS — ESFORÇO COMPUTACIONAL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67" y="1127727"/>
            <a:ext cx="10883461" cy="444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621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BI foi mais rápida que a FI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42" y="1778583"/>
            <a:ext cx="3431139" cy="1252846"/>
          </a:xfrm>
          <a:prstGeom prst="roundRect">
            <a:avLst>
              <a:gd name="adj" fmla="val 7856"/>
            </a:avLst>
          </a:prstGeom>
          <a:solidFill>
            <a:srgbClr val="FCFCFB"/>
          </a:solidFill>
          <a:ln w="6350">
            <a:solidFill>
              <a:srgbClr val="E2E0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94062" y="1956699"/>
            <a:ext cx="3167147" cy="444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 de 32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94062" y="2426556"/>
            <a:ext cx="3167147" cy="45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instâncias com BL_BI(ACG) mais rápida que BL_FI(ACG)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0431" y="1778583"/>
            <a:ext cx="3431139" cy="1252846"/>
          </a:xfrm>
          <a:prstGeom prst="roundRect">
            <a:avLst>
              <a:gd name="adj" fmla="val 7856"/>
            </a:avLst>
          </a:prstGeom>
          <a:solidFill>
            <a:srgbClr val="FCFCFB"/>
          </a:solidFill>
          <a:ln w="6350">
            <a:solidFill>
              <a:srgbClr val="E2E0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58550" y="1956699"/>
            <a:ext cx="3167147" cy="444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514 × 749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58550" y="2426556"/>
            <a:ext cx="3167147" cy="45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iterações NIt somadas, BI × FI, partindo do ACG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44920" y="1778583"/>
            <a:ext cx="3431139" cy="1252846"/>
          </a:xfrm>
          <a:prstGeom prst="roundRect">
            <a:avLst>
              <a:gd name="adj" fmla="val 7856"/>
            </a:avLst>
          </a:prstGeom>
          <a:solidFill>
            <a:srgbClr val="FCFCFB"/>
          </a:solidFill>
          <a:ln w="6350">
            <a:solidFill>
              <a:srgbClr val="E2E0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123039" y="1956699"/>
            <a:ext cx="3167147" cy="444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1,59 × 1,05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123039" y="2426556"/>
            <a:ext cx="3167147" cy="45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transações eliminadas por iteração de melhora, BI × FI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5942" y="3266368"/>
            <a:ext cx="10560117" cy="2416076"/>
          </a:xfrm>
          <a:prstGeom prst="roundRect">
            <a:avLst>
              <a:gd name="adj" fmla="val 4074"/>
            </a:avLst>
          </a:prstGeom>
          <a:solidFill>
            <a:srgbClr val="FCFCFB"/>
          </a:solidFill>
          <a:ln w="6350">
            <a:solidFill>
              <a:srgbClr val="E2E0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070295" y="3469897"/>
            <a:ext cx="10352954" cy="253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 quê: as melhorias ficam no fim da ordem de varredura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70295" y="3800078"/>
            <a:ext cx="10352954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5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ordem de varredura dos vizinhos (i, j) 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70295" y="4064217"/>
            <a:ext cx="8041129" cy="254000"/>
          </a:xfrm>
          <a:prstGeom prst="roundRect">
            <a:avLst>
              <a:gd name="adj" fmla="val 20000"/>
            </a:avLst>
          </a:prstGeom>
          <a:solidFill>
            <a:srgbClr val="E7E5D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9111424" y="4064217"/>
            <a:ext cx="2010282" cy="254000"/>
          </a:xfrm>
          <a:prstGeom prst="roundRect">
            <a:avLst>
              <a:gd name="adj" fmla="val 20000"/>
            </a:avLst>
          </a:prstGeom>
          <a:solidFill>
            <a:srgbClr val="EB683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070295" y="4368986"/>
            <a:ext cx="8282362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platô: quase todas as trocas têm Δf = 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11424" y="4368986"/>
            <a:ext cx="207059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trocas que melhoram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70295" y="4683950"/>
            <a:ext cx="10352954" cy="487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FI:</a:t>
            </a:r>
            <a:r>
              <a:rPr lang="en-US" sz="1300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 cada melhora recomeça em (1, 2) e percorre quase tudo de novo — na instância 1500, 16,6 milhões de vizinhos avaliados contra 9,8 milhões da BI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70295" y="5247785"/>
            <a:ext cx="10352954" cy="25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BI:</a:t>
            </a:r>
            <a:r>
              <a:rPr lang="en-US" sz="1300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uma varredura por iteração, mas escolhe trocas com Δf = −2 e precisa de menos iterações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2767" y="6238267"/>
            <a:ext cx="850265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5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Gabriel Falcone · T1 Splitwise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33" y="6238267"/>
            <a:ext cx="132080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C65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 / 12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3"/>
            <a:ext cx="1088346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F5F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 · CONCLUSÕES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15942" y="1803995"/>
            <a:ext cx="5200705" cy="1392524"/>
          </a:xfrm>
          <a:prstGeom prst="roundRect">
            <a:avLst>
              <a:gd name="adj" fmla="val 7068"/>
            </a:avLst>
          </a:prstGeom>
          <a:solidFill>
            <a:srgbClr val="FCFCFB"/>
          </a:solidFill>
          <a:ln w="6350">
            <a:solidFill>
              <a:srgbClr val="E2E0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019473" y="2007524"/>
            <a:ext cx="4937453" cy="253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modelagem decide o método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19473" y="2299612"/>
            <a:ext cx="4937453" cy="487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grupos de soma zero + cadeia de repasses: todo o espaço </a:t>
            </a:r>
            <a:r>
              <a:rPr lang="en-US" sz="1300" dirty="0" err="1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é</a:t>
            </a:r>
            <a:r>
              <a:rPr lang="en-US" sz="13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300" dirty="0" err="1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viável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5353" y="1803995"/>
            <a:ext cx="5200705" cy="1392524"/>
          </a:xfrm>
          <a:prstGeom prst="roundRect">
            <a:avLst>
              <a:gd name="adj" fmla="val 7068"/>
            </a:avLst>
          </a:prstGeom>
          <a:solidFill>
            <a:srgbClr val="FCFCFB"/>
          </a:solidFill>
          <a:ln w="6350">
            <a:solidFill>
              <a:srgbClr val="E2E0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378884" y="2007524"/>
            <a:ext cx="4937453" cy="253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Qualidade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78884" y="2299612"/>
            <a:ext cx="4937453" cy="718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ACG já </a:t>
            </a:r>
            <a:r>
              <a:rPr lang="en-US" sz="1300" dirty="0" err="1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é</a:t>
            </a:r>
            <a:r>
              <a:rPr lang="en-US" sz="13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forte; a busca local reduz f em 6,5% em média, até 26,9%, e supera a solução plantada em 9 das 15 instâncias n_k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5942" y="3355225"/>
            <a:ext cx="5200705" cy="1392524"/>
          </a:xfrm>
          <a:prstGeom prst="roundRect">
            <a:avLst>
              <a:gd name="adj" fmla="val 7068"/>
            </a:avLst>
          </a:prstGeom>
          <a:solidFill>
            <a:srgbClr val="FCFCFB"/>
          </a:solidFill>
          <a:ln w="6350">
            <a:solidFill>
              <a:srgbClr val="E2E0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019473" y="3558753"/>
            <a:ext cx="4937453" cy="253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1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Desempenho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19473" y="3850841"/>
            <a:ext cx="4937453" cy="718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tudo em segundos (máx. ≈ 5 s); FI e BI empatam em qualidade, mas a BI foi mais rápida: a ordem de varredura pesa tanto quanto a estratégia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767" y="5004922"/>
            <a:ext cx="10883461" cy="416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621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Obrigado!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12767" y="6238267"/>
            <a:ext cx="850265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5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Gabriel Falcone · T1 Splitwise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33" y="6238267"/>
            <a:ext cx="132080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C65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 / 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1974</Words>
  <Application>Microsoft Macintosh PowerPoint</Application>
  <PresentationFormat>Widescreen</PresentationFormat>
  <Paragraphs>165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IBM Plex Sans</vt:lpstr>
      <vt:lpstr>JetBrains Mono</vt:lpstr>
      <vt:lpstr>Source Serif 4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T1 Splitwise — Apresentação</dc:title>
  <dc:subject>PptxGenJS Presentation</dc:subject>
  <dc:creator>PptxGenJS</dc:creator>
  <cp:lastModifiedBy>Gabriel Falcone</cp:lastModifiedBy>
  <cp:revision>4</cp:revision>
  <dcterms:created xsi:type="dcterms:W3CDTF">2026-09-22T21:08:12Z</dcterms:created>
  <dcterms:modified xsi:type="dcterms:W3CDTF">2026-09-23T21:41:05Z</dcterms:modified>
</cp:coreProperties>
</file>