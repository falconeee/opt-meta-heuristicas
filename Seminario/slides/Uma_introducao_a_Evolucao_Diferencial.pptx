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a Evolução Diferencial, meta-heurística populacional para otimização contínua proposta por Rainer Storn e Kenneth Price. O seminário segue a estrutura do artigo: introdução, definição do algoritmo, um exemplo de aplicação e conclusões. Duração prevista: até 40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blocos, na mesma ordem das seções do artigo. A maior parte do tempo vai para a definição do algoritmo e para o exemplo com a função de Rastrigin.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geral: minimizar uma função de custo com variáveis contínuas. Quando a função tem muitos mínimos locais, métodos gulosos, que só aceitam melhoras, ficam presos. A figura mostra a função de Rastrigin, que vamos usar no exemplo: cada vale é um mínimo local. A ideia das meta-heurísticas populacionais é manter várias soluções, de modo que umas ajudem as outras a escapar.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introdução do artigo de 1997, os autores listam o que um usuário espera de um minimizador prático. A ED foi desenhada para cumprir os quatro: é uma busca direta estocástica (1), usa uma população que pode ser avaliada em paralelo (2), tem só três parâmetros (3) e, nos testes do artigo, foi o único método que achou todos os mínimos globais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ED surgiu das tentativas de Price de resolver um problema de ajuste de polinômios de Chebyshev proposto por Storn. Em 1996, na primeira competição internacional de otimização evolutiva, foi o evolutivo mais rápido, atrás só de dois métodos determinísticos de aplicação limitada. O artigo de 1997 é a referência base deste trabalho. Depois vieram as variantes adaptativas: jDE (Brest et al., 2006), SaDE (Qin et al., 2009), JADE (Zhang e Sanderson, 2009) e a família SHADE; o L-SHADE venceu a competição mono-objetivo do CEC 2014.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revisões de Das e Suganthan (2011) e Das et al. (2016) catalogam aplicações em muitas áreas. Uma das primeiras foi o projeto de filtros digitais, feito pelo próprio Storn em 1996. Em comum, todos são problemas com variáveis contínuas e funções de custo difíceis ou caras de avaliar. A ED também está disponível em bibliotecas como SciPy e pymoo.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antes dos detalhes. A população inicial é sorteada uma única vez. A cada geração, cada indivíduo da população faz o papel de vetor-alvo e passa pelos três operadores: mutação, cruzamento e seleção. Ao final da geração, a nova população substitui a anterior e o ciclo recomeça.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representação é direta: um vetor de números reais, sem codificação binária como nos algoritmos genéticos clássicos. A população inicial deve cobrir todo o domínio, por isso é sorteada com distribuição uniforme. Se já houver uma solução preliminar, o artigo sugere sortear a população em torno dela, com desvios normais. Fixar o vocabulário ajuda nos próximos slides: alvo, mutante e experimental.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do método. Para cada alvo, sorteamos três outros vetores. A diferença entre dois deles, multiplicada por F, é somada ao terceiro, o vetor-base. No desenho, a seta azul é a diferença entre x r2 e x r3; a laranja é a mesma diferença multiplicada por F = 0,5, aplicada a partir de x r1. O ponto importante: a ED não tem uma distribuição de mutação fixa, como as estratégias evolutivas. O passo vem das diferenças entre os próprios indivíduos, então se ajusta sozinho à dispersão da população.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cruzamento decide, coordenada a coordenada, se o vetor experimental herda o valor do mutante ou do alvo. Para cada j, sorteamos um número entre 0 e 1: se ele for menor ou igual a CR, a coordenada vem do mutante. O índice j_rand é sorteado uma vez e sempre vem do mutante, para que u nunca seja uma cópia do alvo. No exemplo, com CR = 0,4, só as posições 2 e 5 passaram no teste, e a posição 4 veio por ser o j_rand. A alternativa é o cruzamento exponencial, que copia um bloco contíguo de coordenadas.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seleção é a mais simples possível: o vetor experimental disputa a vaga apenas com o seu alvo. Se tiver custo menor, ocupa a vaga na próxima geração; senão, o alvo permanece. Consequências: o valor de f em cada posição nunca piora, e, como não há seleção por ranking da população inteira, um indivíduo muito bom não substitui todos os outros de uma vez, o que ajuda a manter a diversidade. Muitas implementações aceitam também empates (menor ou igual), para a população conseguir andar em platôs.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Juntando os três operadores. São dois laços: gerações e indivíduos. Para cada indivíduo: sorteia índices, faz a mutação, o cruzamento e a seleção. O artigo original diz que o núcleo da ED cabe em menos de 30 linhas de C. Note que a seleção grava em um vetor separado, novo, e a troca acontece no fim da geração: é a versão geracional do artigo. Algumas bibliotecas substituem imediatamente, o que muda um pouco a dinâmica.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Storn e Price propuseram essa notação para classificar as variantes. O que vimos até aqui é o DE/rand/1/bin, usado em todas as comparações do artigo. O próprio artigo destaca o DE/best/2/bin: duas diferenças aumentam a diversidade se a população for grande. As variantes que usam o melhor vetor como base convergem mais rápido, mas correm mais risco de convergir cedo demais em funções multimodais. O current-to-best é a base do JADE e do SHADE, que vimos no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regras práticas da Seção 4 do artigo. NP entre 5 e 10 vezes a dimensão, com mínimo de 4 para haver três vetores distintos do alvo. F = 0,5 é um bom começo. Para CR, 0,1 é seguro, mas vale testar 0,9 ou 1,0 para ver se a convergência rápida funciona. Um CR baixo muda poucas coordenadas por vez, o que funciona bem quando as variáveis não interagem (funções separáveis). No nosso exemplo usamos NP = 20, F = 0,5 e CR = 0,9.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aqui que respondemos à pergunta do enunciado sobre diversificação e intensificação. Não há um parâmetro separado para cada uma: o equilíbrio sai da estrutura do algoritmo. No começo, a população está espalhada, as diferenças são longas e a busca explora. Conforme a seleção elimina as soluções ruins, a população se concentra, as diferenças encolhem e a busca refina. Storn e Price chamam de propriedade de divergência o efeito inverso em regiões planas. F regula o tamanho dos passos, CR quantas coordenadas mudam e NP quanta diversidade se mantém.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exemplo real, tirado da população inicial do nosso experimento. O alvo tem f = 31,9. A diferença entre r2 e r3, multiplicada por 0,5, é somada à base r1 e gera o mutante v. No cruzamento, a primeira coordenada passa no teste e vem de v; a segunda não passa e não é o j_rand, então é herdada do alvo. O vetor experimental u tem f = 26,8, menor que o do alvo, e toma a vaga dele. Na figura, a linha tracejada mostra o efeito do cruzamento: u fica com o x1 de v e o x2 do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exemplo escolhemos a Rastrigin em duas dimensões: uma parábola somada a uma ondulação cossenoidal. Isso cria um mínimo local perto de cada ponto inteiro, 121 no domínio, e um único mínimo global na origem. É um teste clássico de otimização global e faz parte do conjunto de testes do artigo de Storn e Price. Usamos o domínio usual, de −5,12 a 5,12, em vez de [−600, 600] do artigo, porque ele permite ver a população sobre a paisagem da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a biblioteca pymoo, que tem uma implementação dedicada da ED. Comparamos com outras opções: o pygmo porta o código original de Storn, mas não tem pacote para Mac ARM, e o mealpy não usa o j_rand no cruzamento. Atenção aos padrões do pymoo: a variante padrão é DE/best/1/bin, o CR padrão é 0,2, e a biblioteca aplica uma mutação polinomial extra depois do cruzamento, que não existe no algoritmo original. Por isso esses três argumentos são definidos explicitamente. O ambiente foi montado com o uv.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figura mostra a população em quatro momentos. Na geração 0, os 20 indivíduos estão espalhados e ocupam 19 bacias diferentes. Na geração 15, já se concentram perto da origem. A tabela conta quantas bacias de atração a população ocupa: o número cai de 19 para 1 na geração 42, quando todos os indivíduos chegam à bacia do mínimo global. É a passagem da diversificação para a intensificação. Depois disso, a ED só refina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animação rodar uma vez inteira, cerca de 12 segundos. Chamar a atenção para três fases: a exploração inicial, com saltos por todo o domínio; o momento, perto da geração 40, em que os últimos indivíduos das bacias vizinhas são substituídos; e o refinamento final, em que a população vira praticamente um ponto só na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melhor valor cai em patamares, porque só muda quando algum vetor experimental supera o melhor indivíduo; a média cai de forma contínua. O gráfico da direita é o mais interessante: a dispersão da população é também a escala dos vetores diferença, ou seja, do passo da mutação. Ela cai oito ordens de grandeza sem nenhum parâmetro de controle adicional. A queda abrupta perto da geração 40 coincide com a eliminação dos últimos indivíduos das bacias vizinhas. O limiar de 10 elevado a menos 6 foi atingido na geração 61, com 1240 avaliações.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Potencialidades: o núcleo é curto, só há três parâmetros com boas regras práticas, não precisa de gradiente e os NP vetores de uma geração podem ser avaliados em paralelo. A característica mais marcante é o passo auto-ajustável. Limitações: o desempenho depende de F, CR e da estratégia, o que motivou as variantes adaptativas; a população pode estagnar, principalmente se for pequena ou se a variante for gulosa, como a DE/best; problemas discretos ou com restrições exigem adaptações, como arredondamento ou penalidades; o custo cresce com a dimensão; e, pelo teorema no free lunch, nenhum método vence todos os outros em todos os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plateia guardar uma única ideia, que seja esta. O mecanismo de vetores diferença é o que distingue a ED de outros evolutivos, e é ele que produz a transição entre explorar e refinar que vimos no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completa, com jDE, SaDE, JADE, SHADE e o teorema no free lunch, está no artigo.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Possíveis perguntas: por que não usar gradiente? (a Rastrigin tem 121 mínimos locais e um método local para no mais próximo); por que CR = 0,9 se a Rastrigin é separável? (seguimos a sugestão de testar 0,9 para convergência rápida; CR baixo também funcionaria bem aqui); como a ED trata restrições? (penalidades ou regras de viabilidade, como as do pymoo); como escolher F e CR em outros problemas? (regras da Seção 4 ou variantes adaptativas como JADE e SHADE).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80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" name="Text 1"/>
          <p:cNvSpPr/>
          <p:nvPr/>
        </p:nvSpPr>
        <p:spPr>
          <a:xfrm>
            <a:off x="812767" y="812767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SEMINÁRIO · META-HEURÍSTICAS 2026/2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67" y="2301324"/>
            <a:ext cx="10883461" cy="1412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A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Uma introdução à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A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Evolução Diferencial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767" y="3891359"/>
            <a:ext cx="10883461" cy="355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Differential Evolution (DE) — Storn e Price, 1997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67" y="5496664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A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[Nome do Autor]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67" y="5831858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PPGI · Universidade Federal do Espírito Santo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que vamos 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57298"/>
            <a:ext cx="2482883" cy="2378152"/>
          </a:xfrm>
          <a:prstGeom prst="roundRect">
            <a:avLst>
              <a:gd name="adj" fmla="val 4139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5" y="2111651"/>
            <a:ext cx="2033403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0295" y="2619651"/>
            <a:ext cx="2033403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Introdução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0295" y="3026007"/>
            <a:ext cx="2033403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Motivação, histórico, estado da arte e aplicações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0295" y="3554347"/>
            <a:ext cx="203340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8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8353" y="1857298"/>
            <a:ext cx="2482883" cy="2378152"/>
          </a:xfrm>
          <a:prstGeom prst="roundRect">
            <a:avLst>
              <a:gd name="adj" fmla="val 4139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2706" y="2111651"/>
            <a:ext cx="2033403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62706" y="2619651"/>
            <a:ext cx="2033403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Definição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62706" y="3026007"/>
            <a:ext cx="2033403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Mutação, cruzamento, seleção, variantes e parâmetros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2706" y="3767722"/>
            <a:ext cx="203340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14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0764" y="1857298"/>
            <a:ext cx="2482883" cy="2378152"/>
          </a:xfrm>
          <a:prstGeom prst="roundRect">
            <a:avLst>
              <a:gd name="adj" fmla="val 4139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117" y="2111651"/>
            <a:ext cx="2033403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55117" y="2619651"/>
            <a:ext cx="2033403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Aplicação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117" y="3026007"/>
            <a:ext cx="2033403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DE/rand/1/bin na função de Rastrigin 2D, com o pymoo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55117" y="3554347"/>
            <a:ext cx="203340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12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93176" y="1857298"/>
            <a:ext cx="2482883" cy="2378152"/>
          </a:xfrm>
          <a:prstGeom prst="roundRect">
            <a:avLst>
              <a:gd name="adj" fmla="val 4139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7528" y="2111651"/>
            <a:ext cx="2033403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147528" y="2619651"/>
            <a:ext cx="2033403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Conclusões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7528" y="3026007"/>
            <a:ext cx="2033403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Potencialidades, limitações e referências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7528" y="3554347"/>
            <a:ext cx="203340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4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67" y="4543392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estrutura segue a do artigo entregue junto com o seminário.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2767" y="6238269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introdução à Evolução Diferencial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33" y="6238269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 que a otimização global é difícil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1854124"/>
            <a:ext cx="484008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Objetivo: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minimizar uma função f de D variáveis contínuas.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67" y="2626156"/>
            <a:ext cx="484008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Muitas funções reais são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lineares, não diferenciáveis e multimodais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67" y="3398188"/>
            <a:ext cx="48400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Gradiente e buscas locais (Nelder–Mead) só aceitam passos que melhoram: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 no primeiro mínimo local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67" y="4454647"/>
            <a:ext cx="48400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Meta-heurísticas populacionais mantêm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várias soluções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ao mesmo tempo e escapam desses mínimos.</a:t>
            </a:r>
            <a:endParaRPr lang="en-US" sz="1600" dirty="0"/>
          </a:p>
        </p:txBody>
      </p:sp>
      <p:pic>
        <p:nvPicPr>
          <p:cNvPr id="8" name="Image 0" descr="Função de Rastrigin em duas dimensões: superfície 3D e curvas de nível com muitos mínimos locais">    </p:cNvPr>
          <p:cNvPicPr>
            <a:picLocks noChangeAspect="1"/>
          </p:cNvPicPr>
          <p:nvPr/>
        </p:nvPicPr>
        <p:blipFill>
          <a:blip r:embed="rId1"/>
          <a:srcRect l="0" r="0" t="-19" b="-19"/>
          <a:stretch/>
        </p:blipFill>
        <p:spPr>
          <a:xfrm>
            <a:off x="5918233" y="2118596"/>
            <a:ext cx="5461000" cy="2635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32553" y="4830025"/>
            <a:ext cx="41533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Rastrigin 2D: 121 mínimos locais e um único mínimo global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767" y="6238270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Storn e Price (1997)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33" y="623827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que Storn e Price queriam de um otimizador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57297"/>
            <a:ext cx="5175294" cy="1433094"/>
          </a:xfrm>
          <a:prstGeom prst="roundRect">
            <a:avLst>
              <a:gd name="adj" fmla="val 6868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5" y="2111649"/>
            <a:ext cx="273326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EB683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95998" y="2111649"/>
            <a:ext cx="4368112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Funções difíceis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95998" y="2467184"/>
            <a:ext cx="436811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Tratar funções não diferenciáveis, não lineares e multimodais.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64" y="1857297"/>
            <a:ext cx="5175294" cy="1433094"/>
          </a:xfrm>
          <a:prstGeom prst="roundRect">
            <a:avLst>
              <a:gd name="adj" fmla="val 6868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117" y="2111649"/>
            <a:ext cx="273326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EB683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80820" y="2111649"/>
            <a:ext cx="4368112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Paralelismo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80820" y="2467184"/>
            <a:ext cx="436811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Avaliar muitas soluções ao mesmo tempo, para funções de custo caras.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942" y="3499920"/>
            <a:ext cx="5175294" cy="1433094"/>
          </a:xfrm>
          <a:prstGeom prst="roundRect">
            <a:avLst>
              <a:gd name="adj" fmla="val 6868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0295" y="3754272"/>
            <a:ext cx="273326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EB683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95998" y="3754272"/>
            <a:ext cx="4368112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Facilidade de uso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95998" y="4109805"/>
            <a:ext cx="436811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Poucos parâmetros de controle, robustos e fáceis de escolher.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00764" y="3499920"/>
            <a:ext cx="5175294" cy="1433094"/>
          </a:xfrm>
          <a:prstGeom prst="roundRect">
            <a:avLst>
              <a:gd name="adj" fmla="val 6868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117" y="3754272"/>
            <a:ext cx="273326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EB683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80820" y="3754272"/>
            <a:ext cx="4368112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Boa convergência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80820" y="4109805"/>
            <a:ext cx="436811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Achar o mínimo global de forma consistente em execuções independentes.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767" y="6238269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Storn e Price (1997), Seção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33" y="6238269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 proposta ao estado da arte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73176"/>
            <a:ext cx="1634078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67" y="2041758"/>
            <a:ext cx="1684878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1995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67" y="2473523"/>
            <a:ext cx="1684878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Relatório técnico TR-95-012 do ICSI, em Berkeley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99201" y="1873176"/>
            <a:ext cx="1634133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9201" y="2041758"/>
            <a:ext cx="1684933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1996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99201" y="2473523"/>
            <a:ext cx="1684933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1st ICEO: o algoritmo evolutivo mais rápido da competição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5689" y="1873176"/>
            <a:ext cx="1634078" cy="0"/>
          </a:xfrm>
          <a:prstGeom prst="line">
            <a:avLst/>
          </a:prstGeom>
          <a:noFill/>
          <a:ln w="381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5689" y="2041758"/>
            <a:ext cx="1684878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1997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5689" y="2473523"/>
            <a:ext cx="1684878" cy="87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Artigo no Journal of Global Optimization (referência deste seminário)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123" y="1873176"/>
            <a:ext cx="1634133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123" y="2041758"/>
            <a:ext cx="1684933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2005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123" y="2473523"/>
            <a:ext cx="1684933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Livro de Price, Storn e Lampinen reúne teoria e prática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8612" y="1873176"/>
            <a:ext cx="1634133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8612" y="2041758"/>
            <a:ext cx="1684933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2006–09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8612" y="2473523"/>
            <a:ext cx="1684933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Parâmetros adaptativos: jDE, SaDE e JADE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45101" y="1873176"/>
            <a:ext cx="1634078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45101" y="2041758"/>
            <a:ext cx="1684878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2013–14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45101" y="2473523"/>
            <a:ext cx="1684878" cy="87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SHADE e L-SHADE, vencedor da competição do IEEE CEC 2014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767" y="3631794"/>
            <a:ext cx="10566467" cy="792427"/>
          </a:xfrm>
          <a:prstGeom prst="roundRect">
            <a:avLst>
              <a:gd name="adj" fmla="val 12821"/>
            </a:avLst>
          </a:prstGeom>
          <a:solidFill>
            <a:srgbClr val="EEF2F8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767" y="3885794"/>
            <a:ext cx="1036022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Hoje, a pesquisa se concentra em </a:t>
            </a: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adaptar F, CR e a estratégia de mutação</a:t>
            </a:r>
            <a:r>
              <a:rPr lang="en-US" sz="16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durante a própria execução.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767" y="6238270"/>
            <a:ext cx="915670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Storn e Price (1995, 1997); Price et al. (2005); Das e Suganthan (2011); Tanabe e Fukunaga (2014)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33" y="623827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Onde a ED é aplicada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57297"/>
            <a:ext cx="3380317" cy="1687204"/>
          </a:xfrm>
          <a:prstGeom prst="roundRect">
            <a:avLst>
              <a:gd name="adj" fmla="val 5834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0295" y="2111648"/>
            <a:ext cx="304767" cy="304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0295" y="2518004"/>
            <a:ext cx="2957759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Filtros digitais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0295" y="2863397"/>
            <a:ext cx="295775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Projeto de filtros IIR e FIR, uma das primeiras aplicações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87" y="1857297"/>
            <a:ext cx="3380372" cy="1687204"/>
          </a:xfrm>
          <a:prstGeom prst="roundRect">
            <a:avLst>
              <a:gd name="adj" fmla="val 5834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0140" y="2111648"/>
            <a:ext cx="304767" cy="3047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0140" y="2518004"/>
            <a:ext cx="295781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Eletromagnetismo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0140" y="2863397"/>
            <a:ext cx="2957816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Síntese de antenas e dispositivos de micro-ondas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686" y="1857297"/>
            <a:ext cx="3380372" cy="1687204"/>
          </a:xfrm>
          <a:prstGeom prst="roundRect">
            <a:avLst>
              <a:gd name="adj" fmla="val 5834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0040" y="2111648"/>
            <a:ext cx="304767" cy="3047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0040" y="2518004"/>
            <a:ext cx="295781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Sistemas de potência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0040" y="2863397"/>
            <a:ext cx="2957816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Despacho econômico e planejamento de redes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42" y="3754028"/>
            <a:ext cx="3380317" cy="1687204"/>
          </a:xfrm>
          <a:prstGeom prst="roundRect">
            <a:avLst>
              <a:gd name="adj" fmla="val 5834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7" name="Image 3" descr="Wren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0295" y="4008382"/>
            <a:ext cx="304767" cy="3047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0295" y="4414738"/>
            <a:ext cx="2957759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Projeto mecânico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070295" y="4760128"/>
            <a:ext cx="295775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Estruturas, molas e vasos de pressão com restrições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05787" y="3754028"/>
            <a:ext cx="3380372" cy="1687204"/>
          </a:xfrm>
          <a:prstGeom prst="roundRect">
            <a:avLst>
              <a:gd name="adj" fmla="val 5834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0140" y="4008382"/>
            <a:ext cx="304767" cy="3047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60140" y="4414738"/>
            <a:ext cx="295781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Engenharia química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660140" y="4760128"/>
            <a:ext cx="2957816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Estimação de parâmetros e otimização de processos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95686" y="3754028"/>
            <a:ext cx="3380372" cy="1687204"/>
          </a:xfrm>
          <a:prstGeom prst="roundRect">
            <a:avLst>
              <a:gd name="adj" fmla="val 5834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5" name="Image 5" descr="Lightbulb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50040" y="4008382"/>
            <a:ext cx="304767" cy="30476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50040" y="4414738"/>
            <a:ext cx="295781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Aprendizado de máquina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250040" y="4760128"/>
            <a:ext cx="2957816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Ajuste de hiperparâmetros e treino de redes neurais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767" y="6238267"/>
            <a:ext cx="915670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Storn (1996); Das e Suganthan (2011); Das et al. (2016); Cornell University (2026)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ciclo da Evolução Diferencial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24130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13233F"/>
          </a:solidFill>
          <a:ln/>
        </p:spPr>
      </p:sp>
      <p:sp>
        <p:nvSpPr>
          <p:cNvPr id="5" name="Text 3"/>
          <p:cNvSpPr/>
          <p:nvPr/>
        </p:nvSpPr>
        <p:spPr>
          <a:xfrm>
            <a:off x="1015945" y="2644124"/>
            <a:ext cx="1805224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A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Inicialização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5945" y="3025068"/>
            <a:ext cx="180522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 vetores sorteados no domínio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22631" y="2422525"/>
            <a:ext cx="2139950" cy="1250950"/>
          </a:xfrm>
          <a:prstGeom prst="roundRect">
            <a:avLst>
              <a:gd name="adj" fmla="val 7360"/>
            </a:avLst>
          </a:prstGeom>
          <a:solidFill>
            <a:srgbClr val="EEF2F8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3923" y="2644124"/>
            <a:ext cx="1768887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Mutação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33923" y="3025068"/>
            <a:ext cx="176888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+ F · diferença entre dois vetores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23025" y="2422525"/>
            <a:ext cx="2139950" cy="1250950"/>
          </a:xfrm>
          <a:prstGeom prst="roundRect">
            <a:avLst>
              <a:gd name="adj" fmla="val 7360"/>
            </a:avLst>
          </a:prstGeom>
          <a:solidFill>
            <a:srgbClr val="EEF2F8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4318" y="2644124"/>
            <a:ext cx="1768887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Cruzamento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34318" y="3025068"/>
            <a:ext cx="176888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mistura o mutante com o alvo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29703" y="2422525"/>
            <a:ext cx="2139950" cy="1250950"/>
          </a:xfrm>
          <a:prstGeom prst="roundRect">
            <a:avLst>
              <a:gd name="adj" fmla="val 7360"/>
            </a:avLst>
          </a:prstGeom>
          <a:solidFill>
            <a:srgbClr val="EEF2F8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0995" y="2644124"/>
            <a:ext cx="1768887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Seleção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440995" y="3025068"/>
            <a:ext cx="176888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fica o melhor entre alvo e experimental</a:t>
            </a:r>
            <a:endParaRPr lang="en-US" sz="120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908267" y="2984500"/>
            <a:ext cx="768339" cy="127000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5708606" y="2984500"/>
            <a:ext cx="768339" cy="127000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8509001" y="2984500"/>
            <a:ext cx="774678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79928" y="3683000"/>
            <a:ext cx="5632428" cy="635000"/>
          </a:xfrm>
          <a:custGeom>
            <a:avLst/>
            <a:gdLst/>
            <a:ahLst/>
            <a:cxnLst/>
            <a:rect l="l" t="t" r="r" b="b"/>
            <a:pathLst>
              <a:path w="5632428" h="635000">
                <a:moveTo>
                  <a:pt x="5607028" y="0"/>
                </a:moveTo>
                <a:lnTo>
                  <a:pt x="5632428" y="0"/>
                </a:lnTo>
                <a:lnTo>
                  <a:pt x="5632428" y="482600"/>
                </a:lnTo>
                <a:arcTo hR="152400" wR="152400" stAng="0" swAng="5400000"/>
                <a:lnTo>
                  <a:pt x="152400" y="635000"/>
                </a:lnTo>
                <a:arcTo hR="152400" wR="152400" stAng="5400000" swAng="5400000"/>
                <a:lnTo>
                  <a:pt x="0" y="0"/>
                </a:lnTo>
                <a:lnTo>
                  <a:pt x="25400" y="0"/>
                </a:lnTo>
                <a:lnTo>
                  <a:pt x="25400" y="482600"/>
                </a:lnTo>
                <a:arcTo hR="127000" wR="127000" stAng="10800000" swAng="-5400000"/>
                <a:lnTo>
                  <a:pt x="5480028" y="609600"/>
                </a:lnTo>
                <a:arcTo hR="127000" wR="127000" stAng="5400000" swAng="-5400000"/>
                <a:lnTo>
                  <a:pt x="5607028" y="0"/>
                </a:lnTo>
                <a:close/>
              </a:path>
            </a:pathLst>
          </a:custGeom>
          <a:solidFill>
            <a:srgbClr val="2A78D6"/>
          </a:solidFill>
          <a:ln/>
        </p:spPr>
      </p:sp>
      <p:pic>
        <p:nvPicPr>
          <p:cNvPr id="20" name="Image 3" descr="arrow-up">    </p:cNvPr>
          <p:cNvPicPr>
            <a:picLocks noChangeAspect="1"/>
          </p:cNvPicPr>
          <p:nvPr/>
        </p:nvPicPr>
        <p:blipFill>
          <a:blip r:embed="rId4"/>
          <a:srcRect l="-3" r="-3" t="0" b="0"/>
          <a:stretch/>
        </p:blipFill>
        <p:spPr>
          <a:xfrm>
            <a:off x="4591017" y="3708353"/>
            <a:ext cx="203178" cy="2793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95442" y="4445000"/>
            <a:ext cx="580140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próxima geração: G ← G + 1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12767" y="5016500"/>
            <a:ext cx="1088334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ciclo se repete até o critério de parada: número máximo de gerações ou valor-alvo de f.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introdução à Evolução Diferencial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População e inicialização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1854122"/>
            <a:ext cx="640980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solução candidata é um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vetor de D números reais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67" y="2341727"/>
            <a:ext cx="640980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população tem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 vetores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 esse tamanho não muda durante a execução.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67" y="3113760"/>
            <a:ext cx="640980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geração 0, cada coordenada é sorteada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uniformemente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dentro dos limites:</a:t>
            </a:r>
            <a:endParaRPr lang="en-US" sz="1600" dirty="0"/>
          </a:p>
        </p:txBody>
      </p:sp>
      <p:pic>
        <p:nvPicPr>
          <p:cNvPr id="7" name="Image 0" descr="x j i 0 igual a x j mínimo mais rand j entre 0 e 1 vezes x j máximo menos x j mínimo">    </p:cNvPr>
          <p:cNvPicPr>
            <a:picLocks noChangeAspect="1"/>
          </p:cNvPicPr>
          <p:nvPr/>
        </p:nvPicPr>
        <p:blipFill>
          <a:blip r:embed="rId1"/>
          <a:srcRect l="0" r="0" t="-27" b="-27"/>
          <a:stretch/>
        </p:blipFill>
        <p:spPr>
          <a:xfrm>
            <a:off x="812767" y="3885791"/>
            <a:ext cx="4889500" cy="4381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42233" y="1854122"/>
            <a:ext cx="3937000" cy="3266061"/>
          </a:xfrm>
          <a:prstGeom prst="roundRect">
            <a:avLst>
              <a:gd name="adj" fmla="val 3111"/>
            </a:avLst>
          </a:prstGeom>
          <a:solidFill>
            <a:srgbClr val="EEF2F8"/>
          </a:solidFill>
          <a:ln/>
        </p:spPr>
      </p:sp>
      <p:sp>
        <p:nvSpPr>
          <p:cNvPr id="9" name="Text 6"/>
          <p:cNvSpPr/>
          <p:nvPr/>
        </p:nvSpPr>
        <p:spPr>
          <a:xfrm>
            <a:off x="7696233" y="2108122"/>
            <a:ext cx="3531870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Vocabulário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96233" y="2565245"/>
            <a:ext cx="35318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Vetor-alvo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96233" y="2875028"/>
            <a:ext cx="353187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indivíduo i que está sendo renovado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96233" y="3240760"/>
            <a:ext cx="35318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Vetor mutante (v)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96233" y="3550543"/>
            <a:ext cx="3531870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criado pela mutação a partir de outros três vetores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96233" y="4129649"/>
            <a:ext cx="35318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Vetor experimental (u)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96233" y="4439434"/>
            <a:ext cx="3531870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 do cruzamento entre v e o alvo (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trial vector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767" y="6238270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introdução à Evolução Diferencial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33" y="623827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 · OPERADOR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Mutação: somar uma diferença ponderada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26"/>
            <a:ext cx="5715110" cy="88900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/>
        </p:spPr>
      </p:sp>
      <p:pic>
        <p:nvPicPr>
          <p:cNvPr id="5" name="Image 0" descr="v i G+1 igual a x r1 G mais F vezes x r2 G menos x r3 G">    </p:cNvPr>
          <p:cNvPicPr>
            <a:picLocks noChangeAspect="1"/>
          </p:cNvPicPr>
          <p:nvPr/>
        </p:nvPicPr>
        <p:blipFill>
          <a:blip r:embed="rId1"/>
          <a:srcRect l="0" r="0" t="-38" b="-38"/>
          <a:stretch/>
        </p:blipFill>
        <p:spPr>
          <a:xfrm>
            <a:off x="1581161" y="2108126"/>
            <a:ext cx="4178267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67" y="2946301"/>
            <a:ext cx="588656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r₁, r₂ e r₃ são índices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sorteados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distintos entre si e de i — por isso NP ≥ 4.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767" y="3718334"/>
            <a:ext cx="588656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o fator de escala: controla o tamanho do passo (tipicamente entre 0,4 e 1).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767" y="4490368"/>
            <a:ext cx="588656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Direção e tamanho do passo vêm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 própria população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não de uma distribuição fixa.</a:t>
            </a:r>
            <a:endParaRPr lang="en-US" sz="1600" dirty="0"/>
          </a:p>
        </p:txBody>
      </p:sp>
      <p:pic>
        <p:nvPicPr>
          <p:cNvPr id="9" name="Image 1" descr="Esquema da mutação: a seta azul liga x r3 a x r2 (vetor diferença) e a seta laranja, com metade do comprimento, parte de x r1 e chega ao vetor mutante v">    </p:cNvPr>
          <p:cNvPicPr>
            <a:picLocks noChangeAspect="1"/>
          </p:cNvPicPr>
          <p:nvPr/>
        </p:nvPicPr>
        <p:blipFill>
          <a:blip r:embed="rId2"/>
          <a:srcRect l="0" r="0" t="-36" b="-36"/>
          <a:stretch/>
        </p:blipFill>
        <p:spPr>
          <a:xfrm>
            <a:off x="6934233" y="2116832"/>
            <a:ext cx="4445000" cy="26796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2767" y="6238273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Storn e Price (1997), Eq.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33" y="6238273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 · OPERADOR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Cruzamento binomial: misturar mutante e alvo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26"/>
            <a:ext cx="5080000" cy="111753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/>
        </p:spPr>
      </p:sp>
      <p:pic>
        <p:nvPicPr>
          <p:cNvPr id="5" name="Image 0" descr="u j i G+1 igual a v j i G+1 se rand j menor ou igual a CR ou j igual a j rand; caso contrário, x j i G">    </p:cNvPr>
          <p:cNvPicPr>
            <a:picLocks noChangeAspect="1"/>
          </p:cNvPicPr>
          <p:nvPr/>
        </p:nvPicPr>
        <p:blipFill>
          <a:blip r:embed="rId1"/>
          <a:srcRect l="-123" r="-123" t="0" b="0"/>
          <a:stretch/>
        </p:blipFill>
        <p:spPr>
          <a:xfrm>
            <a:off x="1066767" y="2057301"/>
            <a:ext cx="4572000" cy="7111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67" y="3174839"/>
            <a:ext cx="52324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∈ [0, 1]: probabilidade de cada coordenada vir do mutante.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767" y="3946872"/>
            <a:ext cx="52324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j_rand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garante que ao menos uma coordenada venha de v.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767" y="4718900"/>
            <a:ext cx="52324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número de coordenadas herdadas é quase binomial: daí o “bin”.</a:t>
            </a:r>
            <a:endParaRPr lang="en-US" sz="1600" dirty="0"/>
          </a:p>
        </p:txBody>
      </p:sp>
      <p:pic>
        <p:nvPicPr>
          <p:cNvPr id="9" name="Image 1" descr="Exemplo com D = 7 e CR = 0,4: rand j vale 0,31 na posição 2 e 0,12 na posição 5, e j rand = 4; o vetor experimental recebe v2, v4 e v5 do mutante e as demais coordenadas do alvo">    </p:cNvPr>
          <p:cNvPicPr>
            <a:picLocks noChangeAspect="1"/>
          </p:cNvPicPr>
          <p:nvPr/>
        </p:nvPicPr>
        <p:blipFill>
          <a:blip r:embed="rId2"/>
          <a:srcRect l="-34" r="-34" t="0" b="0"/>
          <a:stretch/>
        </p:blipFill>
        <p:spPr>
          <a:xfrm>
            <a:off x="6299123" y="2478763"/>
            <a:ext cx="5080000" cy="21843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2767" y="6238273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Storn e Price (1997), Eq. 4 e Fig.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33" y="6238273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 · OPERADOR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Seleção gulosa, um contra 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57294"/>
            <a:ext cx="10560117" cy="1334151"/>
          </a:xfrm>
          <a:prstGeom prst="roundRect">
            <a:avLst>
              <a:gd name="adj" fmla="val 7377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5" name="Image 0" descr="x i G+1 igual a u i G+1 se f de u for menor que f de x i G; caso contrário, x i G">    </p:cNvPr>
          <p:cNvPicPr>
            <a:picLocks noChangeAspect="1"/>
          </p:cNvPicPr>
          <p:nvPr/>
        </p:nvPicPr>
        <p:blipFill>
          <a:blip r:embed="rId1"/>
          <a:srcRect l="-140" r="-140" t="0" b="0"/>
          <a:stretch/>
        </p:blipFill>
        <p:spPr>
          <a:xfrm>
            <a:off x="3556000" y="2060823"/>
            <a:ext cx="5080000" cy="9270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42" y="3502565"/>
            <a:ext cx="3380317" cy="1742932"/>
          </a:xfrm>
          <a:prstGeom prst="roundRect">
            <a:avLst>
              <a:gd name="adj" fmla="val 5647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0295" y="3756918"/>
            <a:ext cx="2957759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 contra um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0295" y="4137862"/>
            <a:ext cx="2957759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u compete só com o seu próprio alvo: NP disputas por geração.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05787" y="3502565"/>
            <a:ext cx="3380372" cy="1742932"/>
          </a:xfrm>
          <a:prstGeom prst="roundRect">
            <a:avLst>
              <a:gd name="adj" fmla="val 5647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0140" y="3756918"/>
            <a:ext cx="2957816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Gulosa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660140" y="4137862"/>
            <a:ext cx="295781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 só entra se for melhor; o f de cada posição nunca piora.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95686" y="3502565"/>
            <a:ext cx="3380372" cy="1742932"/>
          </a:xfrm>
          <a:prstGeom prst="roundRect">
            <a:avLst>
              <a:gd name="adj" fmla="val 5647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0040" y="3756918"/>
            <a:ext cx="2957816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Preserva diversidade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250040" y="4137862"/>
            <a:ext cx="295781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posição é uma linhagem; ninguém domina a população de uma vez.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Storn e Price (1997), Seção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Algoritmo DE/rand/1/bin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19"/>
            <a:ext cx="10566467" cy="3403534"/>
          </a:xfrm>
          <a:prstGeom prst="roundRect">
            <a:avLst>
              <a:gd name="adj" fmla="val 2985"/>
            </a:avLst>
          </a:prstGeom>
          <a:solidFill>
            <a:srgbClr val="13233F"/>
          </a:solidFill>
          <a:ln/>
        </p:spPr>
      </p:sp>
      <p:sp>
        <p:nvSpPr>
          <p:cNvPr id="5" name="Text 3"/>
          <p:cNvSpPr/>
          <p:nvPr/>
        </p:nvSpPr>
        <p:spPr>
          <a:xfrm>
            <a:off x="1117534" y="2108119"/>
            <a:ext cx="10255641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sortear NP vetores x[i] uniformemente no domínio e avaliar f(x[i])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534" y="2400207"/>
            <a:ext cx="10255641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G = 0, 1, …, G_max − 1: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134" y="2692301"/>
            <a:ext cx="9889373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 = 1, …, NP: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734" y="2984388"/>
            <a:ext cx="9523105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sortear r1 ≠ r2 ≠ r3 ≠ i e j_rand ∈ {1, …, D}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734" y="3276476"/>
            <a:ext cx="9523105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 ← x[r1] + F·(x[r2] − x[r3])   </a:t>
            </a:r>
            <a:r>
              <a:rPr lang="en-US" sz="1400" dirty="0">
                <a:solidFill>
                  <a:srgbClr val="F08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mutação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734" y="3568564"/>
            <a:ext cx="9523105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j = 1, …, D: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84334" y="3860651"/>
            <a:ext cx="9156837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u[j] ← v[j] </a:t>
            </a: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rand_j ≤ CR </a:t>
            </a: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j = j_rand, </a:t>
            </a: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senão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x[i][j]   </a:t>
            </a:r>
            <a:r>
              <a:rPr lang="en-US" sz="1400" dirty="0">
                <a:solidFill>
                  <a:srgbClr val="F08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cruzamento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734" y="4152745"/>
            <a:ext cx="9523105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novo[i] ← u </a:t>
            </a: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f(u) &lt; f(x[i]), </a:t>
            </a: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senão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x[i]   </a:t>
            </a:r>
            <a:r>
              <a:rPr lang="en-US" sz="1400" dirty="0">
                <a:solidFill>
                  <a:srgbClr val="F08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seleção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134" y="4444833"/>
            <a:ext cx="9889373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 ← novo   </a:t>
            </a:r>
            <a:r>
              <a:rPr lang="en-US" sz="1400" dirty="0">
                <a:solidFill>
                  <a:srgbClr val="F08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próxima geração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534" y="4736920"/>
            <a:ext cx="10255641" cy="29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retornar</a:t>
            </a:r>
            <a:r>
              <a:rPr lang="en-US" sz="14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o melhor vetor de 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767" y="5562420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no pseudocódigo original (Fig. 3 do artigo), a nova população é montada à parte e só substitui a atual ao final da geração.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Adaptado de Storn e Price (1997), Fig.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Variantes: a notação DE/x/y/z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1803357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vetor-base (rand ou best) ·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número de vetores diferença · </a:t>
            </a: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cruzamento (bin ou exp)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767" y="2348130"/>
            <a:ext cx="10566467" cy="0"/>
          </a:xfrm>
          <a:prstGeom prst="line">
            <a:avLst/>
          </a:prstGeom>
          <a:noFill/>
          <a:ln w="12700">
            <a:solidFill>
              <a:srgbClr val="132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67" y="2550523"/>
            <a:ext cx="248539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DE/rand/1</a:t>
            </a:r>
            <a:endParaRPr lang="en-US" sz="1600" dirty="0"/>
          </a:p>
        </p:txBody>
      </p:sp>
      <p:pic>
        <p:nvPicPr>
          <p:cNvPr id="7" name="Image 0" descr="v igual a x r1 mais F vezes x r2 menos x r3">    </p:cNvPr>
          <p:cNvPicPr>
            <a:picLocks noChangeAspect="1"/>
          </p:cNvPicPr>
          <p:nvPr/>
        </p:nvPicPr>
        <p:blipFill>
          <a:blip r:embed="rId1"/>
          <a:srcRect l="-379" r="-379" t="0" b="0"/>
          <a:stretch/>
        </p:blipFill>
        <p:spPr>
          <a:xfrm>
            <a:off x="3428945" y="2508579"/>
            <a:ext cx="2863839" cy="3682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31123" y="2479365"/>
            <a:ext cx="313955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aleatória: mais exploração (a clássica, usada aqui)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2767" y="3036292"/>
            <a:ext cx="10566467" cy="0"/>
          </a:xfrm>
          <a:prstGeom prst="line">
            <a:avLst/>
          </a:prstGeom>
          <a:noFill/>
          <a:ln w="6350">
            <a:solidFill>
              <a:srgbClr val="C9D3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767" y="3234804"/>
            <a:ext cx="248539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DE/best/1</a:t>
            </a:r>
            <a:endParaRPr lang="en-US" sz="1600" dirty="0"/>
          </a:p>
        </p:txBody>
      </p:sp>
      <p:pic>
        <p:nvPicPr>
          <p:cNvPr id="11" name="Image 1" descr="v igual a x best mais F vezes x r1 menos x r2">    </p:cNvPr>
          <p:cNvPicPr>
            <a:picLocks noChangeAspect="1"/>
          </p:cNvPicPr>
          <p:nvPr/>
        </p:nvPicPr>
        <p:blipFill>
          <a:blip r:embed="rId2"/>
          <a:srcRect l="-382" r="-382" t="0" b="0"/>
          <a:stretch/>
        </p:blipFill>
        <p:spPr>
          <a:xfrm>
            <a:off x="3428945" y="3192859"/>
            <a:ext cx="3016250" cy="3682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1123" y="3163646"/>
            <a:ext cx="313955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= melhor vetor: mais rápida, com risco de convergência prematura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2767" y="3720567"/>
            <a:ext cx="10566467" cy="0"/>
          </a:xfrm>
          <a:prstGeom prst="line">
            <a:avLst/>
          </a:prstGeom>
          <a:noFill/>
          <a:ln w="6350">
            <a:solidFill>
              <a:srgbClr val="C9D3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767" y="3919085"/>
            <a:ext cx="248539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DE/best/2</a:t>
            </a:r>
            <a:endParaRPr lang="en-US" sz="1600" dirty="0"/>
          </a:p>
        </p:txBody>
      </p:sp>
      <p:pic>
        <p:nvPicPr>
          <p:cNvPr id="15" name="Image 2" descr="v igual a x best mais F vezes x r1 mais x r2 menos x r3 menos x r4">    </p:cNvPr>
          <p:cNvPicPr>
            <a:picLocks noChangeAspect="1"/>
          </p:cNvPicPr>
          <p:nvPr/>
        </p:nvPicPr>
        <p:blipFill>
          <a:blip r:embed="rId3"/>
          <a:srcRect l="-435" r="-435" t="0" b="0"/>
          <a:stretch/>
        </p:blipFill>
        <p:spPr>
          <a:xfrm>
            <a:off x="3428945" y="3877134"/>
            <a:ext cx="4419589" cy="3682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1123" y="3847920"/>
            <a:ext cx="313955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diferenças: mais diversidade quando NP é grande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2767" y="4404847"/>
            <a:ext cx="10566467" cy="0"/>
          </a:xfrm>
          <a:prstGeom prst="line">
            <a:avLst/>
          </a:prstGeom>
          <a:noFill/>
          <a:ln w="6350">
            <a:solidFill>
              <a:srgbClr val="C9D3E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2767" y="4574090"/>
            <a:ext cx="248539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DE/current-to-best/1</a:t>
            </a:r>
            <a:endParaRPr lang="en-US" sz="1600" dirty="0"/>
          </a:p>
        </p:txBody>
      </p:sp>
      <p:pic>
        <p:nvPicPr>
          <p:cNvPr id="19" name="Image 3" descr="v igual a x i mais F vezes x best menos x i mais F vezes x r1 menos x r2">    </p:cNvPr>
          <p:cNvPicPr>
            <a:picLocks noChangeAspect="1"/>
          </p:cNvPicPr>
          <p:nvPr/>
        </p:nvPicPr>
        <p:blipFill>
          <a:blip r:embed="rId4"/>
          <a:srcRect l="-435" r="-435" t="0" b="0"/>
          <a:stretch/>
        </p:blipFill>
        <p:spPr>
          <a:xfrm>
            <a:off x="3428945" y="4532201"/>
            <a:ext cx="4654517" cy="36826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1123" y="4609647"/>
            <a:ext cx="313955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do alvo e o puxa em direção ao melhor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Storn e Price (1997); Das e Suganthan (2011)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Só três parâmetros de controle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19"/>
            <a:ext cx="3386667" cy="2428269"/>
          </a:xfrm>
          <a:prstGeom prst="roundRect">
            <a:avLst>
              <a:gd name="adj" fmla="val 4184"/>
            </a:avLst>
          </a:prstGeom>
          <a:solidFill>
            <a:srgbClr val="EEF2F8"/>
          </a:solidFill>
          <a:ln/>
        </p:spPr>
      </p:sp>
      <p:sp>
        <p:nvSpPr>
          <p:cNvPr id="5" name="Text 3"/>
          <p:cNvSpPr/>
          <p:nvPr/>
        </p:nvSpPr>
        <p:spPr>
          <a:xfrm>
            <a:off x="1066767" y="2108119"/>
            <a:ext cx="2965027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i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66767" y="2616119"/>
            <a:ext cx="2965027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TAMANHO DA POPULAÇÃO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767" y="2931083"/>
            <a:ext cx="2965027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5D a 10D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6767" y="3388265"/>
            <a:ext cx="2965027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mínimo 4. Mais vetores trazem mais diversidade, mas custam mais avaliações.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2612" y="1854119"/>
            <a:ext cx="3386722" cy="2428269"/>
          </a:xfrm>
          <a:prstGeom prst="roundRect">
            <a:avLst>
              <a:gd name="adj" fmla="val 4184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/>
          <p:nvPr/>
        </p:nvSpPr>
        <p:spPr>
          <a:xfrm>
            <a:off x="4656612" y="2108119"/>
            <a:ext cx="2965084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i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56612" y="2616119"/>
            <a:ext cx="296508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FATOR DE ESCALA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56612" y="2931083"/>
            <a:ext cx="2965084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56612" y="3388265"/>
            <a:ext cx="2965084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Bom ponto de partida. Valores abaixo de 0,4 ou acima de 1 raramente funcionam bem.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2511" y="1854119"/>
            <a:ext cx="3386722" cy="2428269"/>
          </a:xfrm>
          <a:prstGeom prst="roundRect">
            <a:avLst>
              <a:gd name="adj" fmla="val 4184"/>
            </a:avLst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46511" y="2108119"/>
            <a:ext cx="2965084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i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46511" y="2616119"/>
            <a:ext cx="296508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CONSTANTE DE CRUZAMENTO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46511" y="2931083"/>
            <a:ext cx="2965084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0,1 ou 0,9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46511" y="3388265"/>
            <a:ext cx="2965084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0,1 é a escolha segura; 0,9 a 1,0 testa se há convergência rápida. CR baixo favorece funções separáveis.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767" y="4587156"/>
            <a:ext cx="10566467" cy="690783"/>
          </a:xfrm>
          <a:prstGeom prst="roundRect">
            <a:avLst>
              <a:gd name="adj" fmla="val 14708"/>
            </a:avLst>
          </a:prstGeom>
          <a:solidFill>
            <a:srgbClr val="13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767" y="4790337"/>
            <a:ext cx="1036022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A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população convergiu cedo demais? </a:t>
            </a:r>
            <a:r>
              <a:rPr lang="en-US" sz="1600" b="1" dirty="0">
                <a:solidFill>
                  <a:srgbClr val="FAFA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Aumente F e/ou NP.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Storn e Price (1997), Seção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Diversificação e intensificação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19"/>
            <a:ext cx="5181644" cy="2335169"/>
          </a:xfrm>
          <a:prstGeom prst="roundRect">
            <a:avLst>
              <a:gd name="adj" fmla="val 4351"/>
            </a:avLst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1854119"/>
            <a:ext cx="5181644" cy="2335169"/>
          </a:xfrm>
          <a:custGeom>
            <a:avLst/>
            <a:gdLst/>
            <a:ahLst/>
            <a:cxnLst/>
            <a:rect l="l" t="t" r="r" b="b"/>
            <a:pathLst>
              <a:path w="5181644" h="2335169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44" y="0"/>
                </a:lnTo>
                <a:arcTo hR="101600" wR="101600" stAng="16200000" swAng="5400000"/>
                <a:lnTo>
                  <a:pt x="51816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1066767" y="2157512"/>
            <a:ext cx="481385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INÍCIO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767" y="2472475"/>
            <a:ext cx="4813854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Diversificação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6767" y="2878832"/>
            <a:ext cx="4813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Diferenças longas → saltos grandes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767" y="3264849"/>
            <a:ext cx="4813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aleatória: sem viés para o melhor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767" y="3650866"/>
            <a:ext cx="4813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Seleção 1 a 1 mantém NP linhagens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7589" y="1854119"/>
            <a:ext cx="5181644" cy="2335169"/>
          </a:xfrm>
          <a:prstGeom prst="roundRect">
            <a:avLst>
              <a:gd name="adj" fmla="val 4351"/>
            </a:avLst>
          </a:prstGeom>
          <a:solidFill>
            <a:srgbClr val="FAFA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7589" y="1854119"/>
            <a:ext cx="5181644" cy="2335169"/>
          </a:xfrm>
          <a:custGeom>
            <a:avLst/>
            <a:gdLst/>
            <a:ahLst/>
            <a:cxnLst/>
            <a:rect l="l" t="t" r="r" b="b"/>
            <a:pathLst>
              <a:path w="5181644" h="2335169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44" y="0"/>
                </a:lnTo>
                <a:arcTo hR="101600" wR="101600" stAng="16200000" swAng="5400000"/>
                <a:lnTo>
                  <a:pt x="51816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589" y="2157512"/>
            <a:ext cx="481385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AS GERAÇÕES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51589" y="2472475"/>
            <a:ext cx="4813854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Intensificação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1589" y="2878832"/>
            <a:ext cx="4813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Seleção gulosa descarta as piores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1589" y="3264849"/>
            <a:ext cx="4813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População se concentra nas bacias boas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1589" y="3650866"/>
            <a:ext cx="48138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Diferenças curtas → passos pequenos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767" y="4494057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passo se ajusta sozinho.</a:t>
            </a:r>
            <a:r>
              <a:rPr lang="en-US" sz="16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regiões planas ocorre o inverso: as diferenças crescem e a busca acelera.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Storn e Price (1997), Seção 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DEFINIÇÃO · 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Uma geração, com números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1864703"/>
          <a:ext cx="6403027" cy="2975074"/>
        </p:xfrm>
        <a:graphic>
          <a:graphicData uri="http://schemas.openxmlformats.org/drawingml/2006/table">
            <a:tbl>
              <a:tblPr/>
              <a:tblGrid>
                <a:gridCol w="2561211"/>
                <a:gridCol w="1280605"/>
                <a:gridCol w="1280605"/>
                <a:gridCol w="1280605"/>
              </a:tblGrid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Vetor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x₁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x₂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f(x)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2,805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−0,626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31,887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(r₁)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0,559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−4,467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59,363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r₂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−2,796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1,739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28,664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2,643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−1,490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45,419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Diferença r₂ − r₃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−5,439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3,229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Mutante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−2,161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−2,852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rand_j (CR = 0,9)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0,374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0,987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6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Experimental 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−2,161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−0,626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26,770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67" y="4992136"/>
            <a:ext cx="660601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x₁ vem de v (0,374 ≤ CR); x₂ vem do alvo (0,987 &gt; CR e j_rand = 1). Como 26,77 &lt; 31,89, </a:t>
            </a:r>
            <a:r>
              <a:rPr lang="en-US" sz="12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 substitui o alvo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pic>
        <p:nvPicPr>
          <p:cNvPr id="6" name="Image 0" descr="Os vetores da tabela sobre as curvas de nível da Rastrigin: seta azul do vetor diferença, seta laranja do passo F vezes a diferença a partir da base, e linha tracejada do mutante até o vetor experiment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2733" y="1854119"/>
            <a:ext cx="3746500" cy="3854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767" y="6238273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= 0,5 · CR = 0,9 · população inicial do experimento da seção seguinte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058433" y="6238273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75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problema: função de Rastrigin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57301"/>
            <a:ext cx="4565650" cy="1276989"/>
          </a:xfrm>
          <a:prstGeom prst="roundRect">
            <a:avLst>
              <a:gd name="adj" fmla="val 7708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5" name="Image 0" descr="f de x igual a 10 D mais a soma, de j igual a 1 até D, de x j ao quadrado menos 10 cosseno de 2 pi x j">    </p:cNvPr>
          <p:cNvPicPr>
            <a:picLocks noChangeAspect="1"/>
          </p:cNvPicPr>
          <p:nvPr/>
        </p:nvPicPr>
        <p:blipFill>
          <a:blip r:embed="rId1"/>
          <a:srcRect l="-146" r="-146" t="0" b="0"/>
          <a:stretch/>
        </p:blipFill>
        <p:spPr>
          <a:xfrm>
            <a:off x="1066767" y="2060835"/>
            <a:ext cx="4064000" cy="869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67" y="3340646"/>
            <a:ext cx="812800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27123" y="3411748"/>
            <a:ext cx="376737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variáveis (D = 2), no domínio [−5,12; 5,12]²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767" y="3833378"/>
            <a:ext cx="812800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27123" y="3797821"/>
            <a:ext cx="376737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mínimos locais, um perto de cada ponto de coordenadas inteiras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767" y="4326161"/>
            <a:ext cx="812800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27123" y="4397276"/>
            <a:ext cx="3767374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 do único mínimo global, em (0, 0)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767" y="4818893"/>
            <a:ext cx="812800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f13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727123" y="4783336"/>
            <a:ext cx="3767374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testbed de Storn e Price (1997), lá com domínio [−600, 600]</a:t>
            </a:r>
            <a:endParaRPr lang="en-US" sz="1200" dirty="0"/>
          </a:p>
        </p:txBody>
      </p:sp>
      <p:pic>
        <p:nvPicPr>
          <p:cNvPr id="14" name="Image 1" descr="Superfície e curvas de nível da função de Rastrigin 2D, com o mínimo global marcado em (0, 0)">    </p:cNvPr>
          <p:cNvPicPr>
            <a:picLocks noChangeAspect="1"/>
          </p:cNvPicPr>
          <p:nvPr/>
        </p:nvPicPr>
        <p:blipFill>
          <a:blip r:embed="rId2"/>
          <a:srcRect l="0" r="0" t="-61" b="-61"/>
          <a:stretch/>
        </p:blipFill>
        <p:spPr>
          <a:xfrm>
            <a:off x="5791123" y="2182713"/>
            <a:ext cx="5588000" cy="2698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2767" y="6238280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introdução à Evolução Diferencial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058433" y="623828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75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Implementação com o pymoo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26"/>
            <a:ext cx="5715000" cy="3358445"/>
          </a:xfrm>
          <a:prstGeom prst="roundRect">
            <a:avLst>
              <a:gd name="adj" fmla="val 3025"/>
            </a:avLst>
          </a:prstGeom>
          <a:solidFill>
            <a:srgbClr val="13233F"/>
          </a:solidFill>
          <a:ln/>
        </p:spPr>
      </p:sp>
      <p:sp>
        <p:nvSpPr>
          <p:cNvPr id="5" name="Text 3"/>
          <p:cNvSpPr/>
          <p:nvPr/>
        </p:nvSpPr>
        <p:spPr>
          <a:xfrm>
            <a:off x="1117534" y="2108126"/>
            <a:ext cx="5258630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pymoo.algorithms.soo.nonconvex.de </a:t>
            </a:r>
            <a:r>
              <a:rPr lang="en-US" sz="130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7534" y="2368414"/>
            <a:ext cx="5258630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pymoo.optimize </a:t>
            </a:r>
            <a:r>
              <a:rPr lang="en-US" sz="130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minimize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7534" y="2888977"/>
            <a:ext cx="5258630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algoritmo = DE(pop_size=20,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3434" y="3149265"/>
            <a:ext cx="3728153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variant=</a:t>
            </a:r>
            <a:r>
              <a:rPr lang="en-US" sz="1300" dirty="0">
                <a:solidFill>
                  <a:srgbClr val="F08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"DE/rand/1/bin"</a:t>
            </a: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3434" y="3409553"/>
            <a:ext cx="3728153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F=0.5, CR=0.9,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3434" y="3669829"/>
            <a:ext cx="3728153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jitter=False,  </a:t>
            </a:r>
            <a:r>
              <a:rPr lang="en-US" sz="13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F constante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3434" y="3930117"/>
            <a:ext cx="3728153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prob_mut=0.0)  </a:t>
            </a:r>
            <a:r>
              <a:rPr lang="en-US" sz="13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sem mutação extra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7534" y="4190405"/>
            <a:ext cx="5258630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 = minimize(Rastrigin(), algoritmo,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3434" y="4450680"/>
            <a:ext cx="3728153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r>
              <a:rPr lang="en-US" sz="1300" dirty="0">
                <a:solidFill>
                  <a:srgbClr val="F08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"n_gen"</a:t>
            </a: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101), seed=42,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3434" y="4710968"/>
            <a:ext cx="3728153" cy="27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save_history=True)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2534" y="1854126"/>
            <a:ext cx="4683101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Ajustes para o DE clássico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45234" y="2285901"/>
            <a:ext cx="0" cy="452107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4229" y="2285901"/>
            <a:ext cx="452685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variant = "DE/rand/1/bin"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84229" y="2524621"/>
            <a:ext cx="452685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padrão do pymoo é DE/best/1/bin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45234" y="2865003"/>
            <a:ext cx="0" cy="452107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4229" y="2865003"/>
            <a:ext cx="452685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 = 0.9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84229" y="3103736"/>
            <a:ext cx="452685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padrão do pymoo é 0,2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45234" y="3444106"/>
            <a:ext cx="0" cy="665482"/>
          </a:xfrm>
          <a:prstGeom prst="line">
            <a:avLst/>
          </a:prstGeom>
          <a:noFill/>
          <a:ln w="25400">
            <a:solidFill>
              <a:srgbClr val="EB68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4229" y="3444106"/>
            <a:ext cx="452685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prob_mut = 0.0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84229" y="3682839"/>
            <a:ext cx="4526855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desliga a mutação polinomial que o pymoo aplica após o cruzamento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45234" y="4236591"/>
            <a:ext cx="0" cy="665482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4229" y="4236591"/>
            <a:ext cx="452685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n_gen = 101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4229" y="4475324"/>
            <a:ext cx="4526855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inicialização conta como geração 1: são 100 gerações da ED e 2020 avaliações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767" y="6238280"/>
            <a:ext cx="915670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pymoo 0.6.2 (Blank e Deb, 2020) · notebook: implementacao/de_rastrigin.ipynb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33" y="623828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75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APLICAÇÃO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população ao longo das gerações</a:t>
            </a:r>
            <a:endParaRPr lang="en-US" sz="3200" dirty="0"/>
          </a:p>
        </p:txBody>
      </p:sp>
      <p:pic>
        <p:nvPicPr>
          <p:cNvPr id="4" name="Image 0" descr="População da ED sobre as curvas de nível da Rastrigin nas gerações 0, 5, 15 e 100: espalhada no início, concentrada perto da origem na geração 15 e reunida no mínimo global na geração 100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812767" y="1854126"/>
            <a:ext cx="3848089" cy="3987767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7795" y="2028259"/>
          <a:ext cx="6301438" cy="3070931"/>
        </p:xfrm>
        <a:graphic>
          <a:graphicData uri="http://schemas.openxmlformats.org/drawingml/2006/table">
            <a:tbl>
              <a:tblPr/>
              <a:tblGrid>
                <a:gridCol w="1890432"/>
                <a:gridCol w="2205503"/>
                <a:gridCol w="2205503"/>
              </a:tblGrid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Geração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Bacias ocupadas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Melhor 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6"/>
                    </a:solidFill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25,0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3,37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1,64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0,296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0,154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6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3,55 × 10⁻¹⁵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67212" y="5251549"/>
            <a:ext cx="65013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Bacia = ponto de coordenadas inteiras mais próximo de cada indivíduo. A partir da geração 42, todos estão na bacia do mínimo global.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12767" y="6238280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 = 20 · F = 0,5 · CR = 0,9 · semente 42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058433" y="6238280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APLICAÇÃO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Evolução Diferencial em movimento</a:t>
            </a:r>
            <a:endParaRPr lang="en-US" sz="3200" dirty="0"/>
          </a:p>
        </p:txBody>
      </p:sp>
      <p:pic>
        <p:nvPicPr>
          <p:cNvPr id="4" name="Image 0" descr="Animação da população da ED ao longo de 100 gerações sobre as curvas de nível da função de Rastrigin">    </p:cNvPr>
          <p:cNvPicPr>
            <a:picLocks noChangeAspect="1"/>
          </p:cNvPicPr>
          <p:nvPr/>
        </p:nvPicPr>
        <p:blipFill>
          <a:blip r:embed="rId1"/>
          <a:srcRect l="-14" r="-14" t="0" b="0"/>
          <a:stretch/>
        </p:blipFill>
        <p:spPr>
          <a:xfrm>
            <a:off x="812767" y="1854113"/>
            <a:ext cx="3822678" cy="3987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41801" y="2689920"/>
            <a:ext cx="652755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ponto laranja é um indivíduo; o fundo são as curvas de nível da Rastrigin.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41801" y="3461953"/>
            <a:ext cx="652755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Gerações 0 a 20: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saltos longos exploram o domínio inteiro.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41801" y="3949564"/>
            <a:ext cx="652755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Gerações 20 a 42: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população abandona as bacias vizinhas e converge para a central.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41801" y="4721597"/>
            <a:ext cx="652755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Depois:</a:t>
            </a: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passos cada vez menores refinam o mínimo global.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Gerada pelo notebook: implementacao/figuras/populacao_de.gif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APLICAÇÃO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Convergência e números finais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57288"/>
            <a:ext cx="3295650" cy="1016595"/>
          </a:xfrm>
          <a:prstGeom prst="roundRect">
            <a:avLst>
              <a:gd name="adj" fmla="val 9682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5" y="2009998"/>
            <a:ext cx="2870553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3,55 × 10⁻¹⁵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0295" y="2507804"/>
            <a:ext cx="287055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melhor f encontrado, na geração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42" y="2981821"/>
            <a:ext cx="3295650" cy="1229971"/>
          </a:xfrm>
          <a:prstGeom prst="roundRect">
            <a:avLst>
              <a:gd name="adj" fmla="val 8002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0295" y="3134531"/>
            <a:ext cx="2870553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1240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70295" y="3632336"/>
            <a:ext cx="2870553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avaliações de f até f &lt; 10⁻⁶ (geração 61), de 2020 no total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42" y="4319736"/>
            <a:ext cx="3295650" cy="1229971"/>
          </a:xfrm>
          <a:prstGeom prst="roundRect">
            <a:avLst>
              <a:gd name="adj" fmla="val 8002"/>
            </a:avLst>
          </a:prstGeom>
          <a:solidFill>
            <a:srgbClr val="FAFAF7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0295" y="4472446"/>
            <a:ext cx="2870553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10⁸ 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70295" y="4970252"/>
            <a:ext cx="2870553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redução da dispersão da população: de 4,02 para 1,8 × 10⁻⁸</a:t>
            </a:r>
            <a:endParaRPr lang="en-US" sz="1200" dirty="0"/>
          </a:p>
        </p:txBody>
      </p:sp>
      <p:pic>
        <p:nvPicPr>
          <p:cNvPr id="13" name="Image 0" descr="Dois gráficos em escala logarítmica ao longo de 100 gerações: à esquerda, o melhor valor de f e a média da população caem até cerca de 10 elevado a menos 15; à direita, a dispersão da população cai de cerca de 4 para 10 elevado a menos 8, com uma queda abrupta perto da geração 40">    </p:cNvPr>
          <p:cNvPicPr>
            <a:picLocks noChangeAspect="1"/>
          </p:cNvPicPr>
          <p:nvPr/>
        </p:nvPicPr>
        <p:blipFill>
          <a:blip r:embed="rId1"/>
          <a:srcRect l="0" r="0" t="-22" b="-22"/>
          <a:stretch/>
        </p:blipFill>
        <p:spPr>
          <a:xfrm>
            <a:off x="4419534" y="2322376"/>
            <a:ext cx="6959589" cy="2762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x* = (−2,49 × 10⁻⁹; −2,40 × 10⁻⁹) · semente 42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Potencialidades e limitações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854113"/>
            <a:ext cx="5181644" cy="3361146"/>
          </a:xfrm>
          <a:prstGeom prst="roundRect">
            <a:avLst>
              <a:gd name="adj" fmla="val 3023"/>
            </a:avLst>
          </a:prstGeom>
          <a:solidFill>
            <a:srgbClr val="EEF2F8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1854113"/>
            <a:ext cx="5181644" cy="3361146"/>
          </a:xfrm>
          <a:custGeom>
            <a:avLst/>
            <a:gdLst/>
            <a:ahLst/>
            <a:cxnLst/>
            <a:rect l="l" t="t" r="r" b="b"/>
            <a:pathLst>
              <a:path w="5181644" h="336114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44" y="0"/>
                </a:lnTo>
                <a:arcTo hR="101600" wR="101600" stAng="16200000" swAng="5400000"/>
                <a:lnTo>
                  <a:pt x="51816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1066767" y="2157512"/>
            <a:ext cx="4813854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Potencialidades</a:t>
            </a:r>
            <a:endParaRPr lang="en-US" sz="2000" dirty="0"/>
          </a:p>
        </p:txBody>
      </p:sp>
      <p:pic>
        <p:nvPicPr>
          <p:cNvPr id="7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767" y="2589275"/>
            <a:ext cx="228589" cy="2285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6945" y="2589275"/>
            <a:ext cx="447377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Simples: poucas linhas de código e três parâmetros</a:t>
            </a:r>
            <a:endParaRPr lang="en-US" sz="1600" dirty="0"/>
          </a:p>
        </p:txBody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6767" y="3285133"/>
            <a:ext cx="228589" cy="2285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6945" y="3285133"/>
            <a:ext cx="447377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Dispensa derivadas e lida bem com multimodalidade</a:t>
            </a:r>
            <a:endParaRPr lang="en-US" sz="1600" dirty="0"/>
          </a:p>
        </p:txBody>
      </p:sp>
      <p:pic>
        <p:nvPicPr>
          <p:cNvPr id="11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767" y="3980979"/>
            <a:ext cx="228589" cy="2285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96945" y="3980979"/>
            <a:ext cx="44737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Paralelizável: os NP vetores são independentes</a:t>
            </a:r>
            <a:endParaRPr lang="en-US" sz="1600" dirty="0"/>
          </a:p>
        </p:txBody>
      </p:sp>
      <p:pic>
        <p:nvPicPr>
          <p:cNvPr id="13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767" y="4392414"/>
            <a:ext cx="228589" cy="22858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96945" y="4392414"/>
            <a:ext cx="447377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 ajustado pelos próprios vetores diferença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197589" y="1854113"/>
            <a:ext cx="5181644" cy="3361146"/>
          </a:xfrm>
          <a:prstGeom prst="roundRect">
            <a:avLst>
              <a:gd name="adj" fmla="val 3023"/>
            </a:avLst>
          </a:prstGeom>
          <a:solidFill>
            <a:srgbClr val="EEF2F8"/>
          </a:solidFill>
          <a:ln/>
        </p:spPr>
      </p:sp>
      <p:sp>
        <p:nvSpPr>
          <p:cNvPr id="16" name="Shape 10"/>
          <p:cNvSpPr/>
          <p:nvPr/>
        </p:nvSpPr>
        <p:spPr>
          <a:xfrm>
            <a:off x="6197589" y="1854113"/>
            <a:ext cx="5181644" cy="3361146"/>
          </a:xfrm>
          <a:custGeom>
            <a:avLst/>
            <a:gdLst/>
            <a:ahLst/>
            <a:cxnLst/>
            <a:rect l="l" t="t" r="r" b="b"/>
            <a:pathLst>
              <a:path w="5181644" h="336114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44" y="0"/>
                </a:lnTo>
                <a:arcTo hR="101600" wR="101600" stAng="16200000" swAng="5400000"/>
                <a:lnTo>
                  <a:pt x="518164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B6834"/>
          </a:solidFill>
          <a:ln/>
        </p:spPr>
      </p:sp>
      <p:sp>
        <p:nvSpPr>
          <p:cNvPr id="17" name="Text 11"/>
          <p:cNvSpPr/>
          <p:nvPr/>
        </p:nvSpPr>
        <p:spPr>
          <a:xfrm>
            <a:off x="6451589" y="2157512"/>
            <a:ext cx="4813854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Limitações</a:t>
            </a:r>
            <a:endParaRPr lang="en-US" sz="2000" dirty="0"/>
          </a:p>
        </p:txBody>
      </p:sp>
      <p:pic>
        <p:nvPicPr>
          <p:cNvPr id="18" name="Image 4" descr="War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51589" y="2589275"/>
            <a:ext cx="228589" cy="22858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81767" y="2589275"/>
            <a:ext cx="44737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Sensível a F, CR e à estratégia de mutação</a:t>
            </a:r>
            <a:endParaRPr lang="en-US" sz="1600" dirty="0"/>
          </a:p>
        </p:txBody>
      </p:sp>
      <p:pic>
        <p:nvPicPr>
          <p:cNvPr id="20" name="Image 5" descr="Warni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51589" y="3000697"/>
            <a:ext cx="228589" cy="22858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81767" y="3000697"/>
            <a:ext cx="44737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Pode estagnar ou convergir prematuramente</a:t>
            </a:r>
            <a:endParaRPr lang="en-US" sz="1600" dirty="0"/>
          </a:p>
        </p:txBody>
      </p:sp>
      <p:pic>
        <p:nvPicPr>
          <p:cNvPr id="22" name="Image 6" descr="Warni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51589" y="3412133"/>
            <a:ext cx="228589" cy="22858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81767" y="3412133"/>
            <a:ext cx="44737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Discretos e com restrições exigem adaptações</a:t>
            </a:r>
            <a:endParaRPr lang="en-US" sz="1600" dirty="0"/>
          </a:p>
        </p:txBody>
      </p:sp>
      <p:pic>
        <p:nvPicPr>
          <p:cNvPr id="24" name="Image 7" descr="Warni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51589" y="3823556"/>
            <a:ext cx="228589" cy="22858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781767" y="3823556"/>
            <a:ext cx="44737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garantia de ótimo global (no free lunch)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Fontes: Storn e Price (1997); Das e Suganthan (2011); Wolpert e Macready (1997)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80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" name="Text 1"/>
          <p:cNvSpPr/>
          <p:nvPr/>
        </p:nvSpPr>
        <p:spPr>
          <a:xfrm>
            <a:off x="812767" y="2092958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IDEIA CENTRAL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67" y="2560340"/>
            <a:ext cx="10883461" cy="148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FA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ED transforma diferenças entre soluções em passos de busca: longos enquanto a população está espalhada, curtos quando ela converge.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767" y="4277320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isso, com apenas três parâmetros, ela equilibra sozinha diversificação e intensificação.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5C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02320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Referências principais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1854113"/>
            <a:ext cx="10883461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Storn, R.; Price, K. (1997).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Differential Evolution – A Simple and Efficient Heuristic for Global Optimization over Continuous Spaces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Journal of Global Optimization, 11(4):341–359.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67" y="238245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Price, K. V.; Storn, R. M.; Lampinen, J. A. (2005).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Differential Evolution: A Practical Approach to Global Optimization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Springer.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67" y="269742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Das, S.; Suganthan, P. N. (2011).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Differential Evolution: A Survey of the State-of-the-Art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IEEE Transactions on Evolutionary Computation, 15(1):4–31.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67" y="3012393"/>
            <a:ext cx="10883461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Das, S.; Mullick, S. S.; Suganthan, P. N. (2016).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Recent Advances in Differential Evolution – An Updated Survey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Swarm and Evolutionary Computation, 27:1–30.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67" y="3540733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Tanabe, R.; Fukunaga, A. S. (2014).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Improving the Search Performance of SHADE Using Linear Population Size Reduction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IEEE CEC, 1658–1665.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67" y="3855690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Blank, J.; Deb, K. (2020).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pymoo: Multi-Objective Optimization in Python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IEEE Access, 8:89497–89509.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67" y="4170660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Cornell University.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Differential Evolution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Computational Optimization Open Textbook · Baeldung. </a:t>
            </a:r>
            <a:r>
              <a:rPr lang="en-US" sz="1200" i="1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Differential Evolution Algorithm</a:t>
            </a:r>
            <a:r>
              <a:rPr lang="en-US" sz="1200" dirty="0">
                <a:solidFill>
                  <a:srgbClr val="3B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Acesso em: 27 set. 2026.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67" y="6238267"/>
            <a:ext cx="78486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completa no artigo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33" y="6238267"/>
            <a:ext cx="132080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80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" name="Text 1"/>
          <p:cNvSpPr/>
          <p:nvPr/>
        </p:nvSpPr>
        <p:spPr>
          <a:xfrm>
            <a:off x="812767" y="2320342"/>
            <a:ext cx="10883461" cy="71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A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67" y="3216945"/>
            <a:ext cx="10883461" cy="594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08A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Perguntas?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767" y="3989090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A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[Nome do Autor] · [email]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67" y="4324276"/>
            <a:ext cx="1088346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Experimento completo no notebook implementacao/de_rastrigin.ipynb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Uma introdução à Evolução Diferencial</dc:title>
  <dc:subject>PptxGenJS Presentation</dc:subject>
  <dc:creator>PptxGenJS</dc:creator>
  <cp:lastModifiedBy>PptxGenJS</cp:lastModifiedBy>
  <cp:revision>1</cp:revision>
  <dcterms:created xsi:type="dcterms:W3CDTF">2026-09-28T00:40:30Z</dcterms:created>
  <dcterms:modified xsi:type="dcterms:W3CDTF">2026-09-28T00:40:30Z</dcterms:modified>
</cp:coreProperties>
</file>